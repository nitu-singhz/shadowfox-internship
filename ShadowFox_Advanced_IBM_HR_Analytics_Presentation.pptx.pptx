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ptos" panose="020B0604020202020204" charset="0"/>
      <p:regular r:id="rId10"/>
    </p:embeddedFont>
    <p:embeddedFont>
      <p:font typeface="Aptos Bold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7236" y="747236"/>
            <a:ext cx="16747807" cy="8586788"/>
            <a:chOff x="0" y="0"/>
            <a:chExt cx="22330410" cy="1144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30411" cy="11449050"/>
            </a:xfrm>
            <a:custGeom>
              <a:avLst/>
              <a:gdLst/>
              <a:ahLst/>
              <a:cxnLst/>
              <a:rect l="l" t="t" r="r" b="b"/>
              <a:pathLst>
                <a:path w="22330411" h="11449050">
                  <a:moveTo>
                    <a:pt x="0" y="1908175"/>
                  </a:moveTo>
                  <a:cubicBezTo>
                    <a:pt x="0" y="854329"/>
                    <a:pt x="854329" y="0"/>
                    <a:pt x="1908175" y="0"/>
                  </a:cubicBezTo>
                  <a:lnTo>
                    <a:pt x="20422236" y="0"/>
                  </a:lnTo>
                  <a:cubicBezTo>
                    <a:pt x="21476081" y="0"/>
                    <a:pt x="22330411" y="854329"/>
                    <a:pt x="22330411" y="1908175"/>
                  </a:cubicBezTo>
                  <a:lnTo>
                    <a:pt x="22330411" y="9540875"/>
                  </a:lnTo>
                  <a:cubicBezTo>
                    <a:pt x="22330411" y="10594721"/>
                    <a:pt x="21476081" y="11449050"/>
                    <a:pt x="20422236" y="11449050"/>
                  </a:cubicBezTo>
                  <a:lnTo>
                    <a:pt x="1908175" y="11449050"/>
                  </a:lnTo>
                  <a:cubicBezTo>
                    <a:pt x="854329" y="11449050"/>
                    <a:pt x="0" y="10594721"/>
                    <a:pt x="0" y="9540875"/>
                  </a:cubicBezTo>
                  <a:close/>
                </a:path>
              </a:pathLst>
            </a:custGeom>
            <a:solidFill>
              <a:srgbClr val="E9E1F8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376172" y="1924812"/>
            <a:ext cx="15489936" cy="47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SHADOW FOX • DATA ANALYTICS INTERNSHIP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4752" y="2875407"/>
            <a:ext cx="15352776" cy="123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5100" b="1">
                <a:solidFill>
                  <a:srgbClr val="51416F"/>
                </a:solidFill>
                <a:latin typeface="Aptos Bold"/>
                <a:ea typeface="Aptos Bold"/>
                <a:cs typeface="Aptos Bold"/>
                <a:sym typeface="Aptos Bold"/>
              </a:rPr>
              <a:t>IBM HR ANALYTICS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9072" y="4187952"/>
            <a:ext cx="14804136" cy="74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7E57C2"/>
                </a:solidFill>
                <a:latin typeface="Aptos"/>
                <a:ea typeface="Aptos"/>
                <a:cs typeface="Aptos"/>
                <a:sym typeface="Aptos"/>
              </a:rPr>
              <a:t>Executive Overview / Workforce Insight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56232" y="5902452"/>
            <a:ext cx="14529816" cy="882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Prepared by: Nitu Singh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Osmania University  |  Mentor: Mr. Aakash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56232" y="7676007"/>
            <a:ext cx="14529816" cy="48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736C7D"/>
                </a:solidFill>
                <a:latin typeface="Aptos"/>
                <a:ea typeface="Aptos"/>
                <a:cs typeface="Aptos"/>
                <a:sym typeface="Aptos"/>
              </a:rPr>
              <a:t>Internship period: 1 October – 31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78308"/>
            <a:chOff x="0" y="0"/>
            <a:chExt cx="24383390" cy="237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237744"/>
            </a:xfrm>
            <a:custGeom>
              <a:avLst/>
              <a:gdLst/>
              <a:ahLst/>
              <a:cxnLst/>
              <a:rect l="l" t="t" r="r" b="b"/>
              <a:pathLst>
                <a:path w="24383364" h="237744">
                  <a:moveTo>
                    <a:pt x="0" y="0"/>
                  </a:moveTo>
                  <a:lnTo>
                    <a:pt x="24383364" y="0"/>
                  </a:lnTo>
                  <a:lnTo>
                    <a:pt x="24383364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7E57C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27532" y="521589"/>
            <a:ext cx="16587216" cy="59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51416F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" y="1280160"/>
            <a:ext cx="16450056" cy="37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36C7D"/>
                </a:solidFill>
                <a:latin typeface="Aptos"/>
                <a:ea typeface="Aptos"/>
                <a:cs typeface="Aptos"/>
                <a:sym typeface="Aptos"/>
              </a:rPr>
              <a:t>What the dashboard is designed to answer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84396" y="2118836"/>
            <a:ext cx="8106728" cy="2757488"/>
            <a:chOff x="0" y="0"/>
            <a:chExt cx="10808970" cy="3676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08970" cy="3676650"/>
            </a:xfrm>
            <a:custGeom>
              <a:avLst/>
              <a:gdLst/>
              <a:ahLst/>
              <a:cxnLst/>
              <a:rect l="l" t="t" r="r" b="b"/>
              <a:pathLst>
                <a:path w="10808970" h="3676650">
                  <a:moveTo>
                    <a:pt x="0" y="612775"/>
                  </a:moveTo>
                  <a:cubicBezTo>
                    <a:pt x="0" y="274320"/>
                    <a:pt x="274320" y="0"/>
                    <a:pt x="612775" y="0"/>
                  </a:cubicBezTo>
                  <a:lnTo>
                    <a:pt x="10196195" y="0"/>
                  </a:lnTo>
                  <a:cubicBezTo>
                    <a:pt x="10534650" y="0"/>
                    <a:pt x="10808970" y="274320"/>
                    <a:pt x="10808970" y="612775"/>
                  </a:cubicBezTo>
                  <a:lnTo>
                    <a:pt x="10808970" y="3063875"/>
                  </a:lnTo>
                  <a:cubicBezTo>
                    <a:pt x="10808970" y="3402330"/>
                    <a:pt x="10534650" y="3676650"/>
                    <a:pt x="10196195" y="3676650"/>
                  </a:cubicBezTo>
                  <a:lnTo>
                    <a:pt x="612775" y="3676650"/>
                  </a:lnTo>
                  <a:cubicBezTo>
                    <a:pt x="274320" y="3676650"/>
                    <a:pt x="0" y="3402330"/>
                    <a:pt x="0" y="3063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211580" y="2354199"/>
            <a:ext cx="745236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PROJECT PURPOSE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1580" y="2953512"/>
            <a:ext cx="7452360" cy="170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Summarize employee attrition and workforce indicators in one interactive Power BI report.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19736" y="2118836"/>
            <a:ext cx="8038147" cy="2757488"/>
            <a:chOff x="0" y="0"/>
            <a:chExt cx="10717530" cy="36766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17530" cy="3676650"/>
            </a:xfrm>
            <a:custGeom>
              <a:avLst/>
              <a:gdLst/>
              <a:ahLst/>
              <a:cxnLst/>
              <a:rect l="l" t="t" r="r" b="b"/>
              <a:pathLst>
                <a:path w="10717530" h="3676650">
                  <a:moveTo>
                    <a:pt x="0" y="612775"/>
                  </a:moveTo>
                  <a:cubicBezTo>
                    <a:pt x="0" y="274320"/>
                    <a:pt x="274320" y="0"/>
                    <a:pt x="612775" y="0"/>
                  </a:cubicBezTo>
                  <a:lnTo>
                    <a:pt x="10104755" y="0"/>
                  </a:lnTo>
                  <a:cubicBezTo>
                    <a:pt x="10443210" y="0"/>
                    <a:pt x="10717530" y="274320"/>
                    <a:pt x="10717530" y="612775"/>
                  </a:cubicBezTo>
                  <a:lnTo>
                    <a:pt x="10717530" y="3063875"/>
                  </a:lnTo>
                  <a:cubicBezTo>
                    <a:pt x="10717530" y="3402330"/>
                    <a:pt x="10443211" y="3676650"/>
                    <a:pt x="10104755" y="3676650"/>
                  </a:cubicBezTo>
                  <a:lnTo>
                    <a:pt x="612775" y="3676650"/>
                  </a:lnTo>
                  <a:cubicBezTo>
                    <a:pt x="274320" y="3676650"/>
                    <a:pt x="0" y="3402330"/>
                    <a:pt x="0" y="3063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9646920" y="2354199"/>
            <a:ext cx="738378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CORE QUESTIONS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46920" y="2953512"/>
            <a:ext cx="7383780" cy="170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How many employees left? What is the overall attrition rate? How do patterns vary by department, role, age, satisfaction, overtime, tenure, and travel?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5588" y="5765292"/>
            <a:ext cx="15828264" cy="273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Audience: HR teams, managers, and decision-makers exploring workforce patterns.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Output: one-page executive dashboard with KPI cards, charts, and six interactive slicers.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Interpretation: descriptive analysis highlights patterns; it does not prove causation.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78308"/>
            <a:chOff x="0" y="0"/>
            <a:chExt cx="24383390" cy="237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237744"/>
            </a:xfrm>
            <a:custGeom>
              <a:avLst/>
              <a:gdLst/>
              <a:ahLst/>
              <a:cxnLst/>
              <a:rect l="l" t="t" r="r" b="b"/>
              <a:pathLst>
                <a:path w="24383364" h="237744">
                  <a:moveTo>
                    <a:pt x="0" y="0"/>
                  </a:moveTo>
                  <a:lnTo>
                    <a:pt x="24383364" y="0"/>
                  </a:lnTo>
                  <a:lnTo>
                    <a:pt x="24383364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7E57C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27532" y="521589"/>
            <a:ext cx="16587216" cy="59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51416F"/>
                </a:solidFill>
                <a:latin typeface="Aptos Bold"/>
                <a:ea typeface="Aptos Bold"/>
                <a:cs typeface="Aptos Bold"/>
                <a:sym typeface="Aptos Bold"/>
              </a:rPr>
              <a:t>Dataset &amp; Tools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" y="1280160"/>
            <a:ext cx="16450056" cy="37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36C7D"/>
                </a:solidFill>
                <a:latin typeface="Aptos"/>
                <a:ea typeface="Aptos"/>
                <a:cs typeface="Aptos"/>
                <a:sym typeface="Aptos"/>
              </a:rPr>
              <a:t>A structured employee dataset prepared for workforce analysis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84396" y="2050256"/>
            <a:ext cx="5294947" cy="2140267"/>
            <a:chOff x="0" y="0"/>
            <a:chExt cx="7059930" cy="2853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59930" cy="2853690"/>
            </a:xfrm>
            <a:custGeom>
              <a:avLst/>
              <a:gdLst/>
              <a:ahLst/>
              <a:cxnLst/>
              <a:rect l="l" t="t" r="r" b="b"/>
              <a:pathLst>
                <a:path w="7059930" h="2853690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6584315" y="0"/>
                  </a:lnTo>
                  <a:cubicBezTo>
                    <a:pt x="6846951" y="0"/>
                    <a:pt x="7059930" y="212979"/>
                    <a:pt x="7059930" y="475615"/>
                  </a:cubicBezTo>
                  <a:lnTo>
                    <a:pt x="7059930" y="2378075"/>
                  </a:lnTo>
                  <a:cubicBezTo>
                    <a:pt x="7059930" y="2640711"/>
                    <a:pt x="6846951" y="2853690"/>
                    <a:pt x="6584315" y="2853690"/>
                  </a:cubicBezTo>
                  <a:lnTo>
                    <a:pt x="475615" y="2853690"/>
                  </a:lnTo>
                  <a:cubicBezTo>
                    <a:pt x="212979" y="2853690"/>
                    <a:pt x="0" y="2640711"/>
                    <a:pt x="0" y="23780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211580" y="2285619"/>
            <a:ext cx="464058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DATASET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1580" y="2884932"/>
            <a:ext cx="4640580" cy="108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IBM HR Analytics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1,470 employee records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39 columns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07956" y="2050256"/>
            <a:ext cx="5294947" cy="2140267"/>
            <a:chOff x="0" y="0"/>
            <a:chExt cx="7059930" cy="28536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59930" cy="2853690"/>
            </a:xfrm>
            <a:custGeom>
              <a:avLst/>
              <a:gdLst/>
              <a:ahLst/>
              <a:cxnLst/>
              <a:rect l="l" t="t" r="r" b="b"/>
              <a:pathLst>
                <a:path w="7059930" h="2853690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6584315" y="0"/>
                  </a:lnTo>
                  <a:cubicBezTo>
                    <a:pt x="6846951" y="0"/>
                    <a:pt x="7059930" y="212979"/>
                    <a:pt x="7059930" y="475615"/>
                  </a:cubicBezTo>
                  <a:lnTo>
                    <a:pt x="7059930" y="2378075"/>
                  </a:lnTo>
                  <a:cubicBezTo>
                    <a:pt x="7059930" y="2640711"/>
                    <a:pt x="6846951" y="2853690"/>
                    <a:pt x="6584315" y="2853690"/>
                  </a:cubicBezTo>
                  <a:lnTo>
                    <a:pt x="475615" y="2853690"/>
                  </a:lnTo>
                  <a:cubicBezTo>
                    <a:pt x="212979" y="2853690"/>
                    <a:pt x="0" y="2640711"/>
                    <a:pt x="0" y="23780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6835140" y="2285619"/>
            <a:ext cx="464058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MAIN TOOL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35140" y="2884932"/>
            <a:ext cx="4640580" cy="1581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Microsoft Power BI</a:t>
            </a:r>
          </a:p>
          <a:p>
            <a:pPr algn="l">
              <a:lnSpc>
                <a:spcPts val="3060"/>
              </a:lnSpc>
            </a:pPr>
            <a:r>
              <a:rPr lang="en-US" sz="25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Report design, data visualization , Google </a:t>
            </a:r>
            <a:r>
              <a:rPr lang="en-US" sz="25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Colab</a:t>
            </a:r>
            <a:endParaRPr lang="en-US" sz="2550" dirty="0">
              <a:solidFill>
                <a:srgbClr val="2D2837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3060"/>
              </a:lnSpc>
            </a:pPr>
            <a:endParaRPr lang="en-US" sz="2550" dirty="0">
              <a:solidFill>
                <a:srgbClr val="2D2837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2131516" y="2050256"/>
            <a:ext cx="5294947" cy="2140267"/>
            <a:chOff x="0" y="0"/>
            <a:chExt cx="7059930" cy="28536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59930" cy="2853690"/>
            </a:xfrm>
            <a:custGeom>
              <a:avLst/>
              <a:gdLst/>
              <a:ahLst/>
              <a:cxnLst/>
              <a:rect l="l" t="t" r="r" b="b"/>
              <a:pathLst>
                <a:path w="7059930" h="2853690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6584315" y="0"/>
                  </a:lnTo>
                  <a:cubicBezTo>
                    <a:pt x="6846951" y="0"/>
                    <a:pt x="7059930" y="212979"/>
                    <a:pt x="7059930" y="475615"/>
                  </a:cubicBezTo>
                  <a:lnTo>
                    <a:pt x="7059930" y="2378075"/>
                  </a:lnTo>
                  <a:cubicBezTo>
                    <a:pt x="7059930" y="2640711"/>
                    <a:pt x="6846951" y="2853690"/>
                    <a:pt x="6584315" y="2853690"/>
                  </a:cubicBezTo>
                  <a:lnTo>
                    <a:pt x="475615" y="2853690"/>
                  </a:lnTo>
                  <a:cubicBezTo>
                    <a:pt x="212979" y="2853690"/>
                    <a:pt x="0" y="2640711"/>
                    <a:pt x="0" y="23780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458700" y="2285619"/>
            <a:ext cx="464058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DATA CHECKS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8700" y="2875407"/>
            <a:ext cx="4640580" cy="109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Dataset reviewed for missing values and duplicate records; final working data reported as 1,470 rows.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0432" y="4942332"/>
            <a:ext cx="16038576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51416F"/>
                </a:solidFill>
                <a:latin typeface="Aptos Bold"/>
                <a:ea typeface="Aptos Bold"/>
                <a:cs typeface="Aptos Bold"/>
                <a:sym typeface="Aptos Bold"/>
              </a:rPr>
              <a:t>Important fields used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5588" y="5559552"/>
            <a:ext cx="15553944" cy="328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EmployeeNumber</a:t>
            </a: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 — employee identifier used to count employees.</a:t>
            </a:r>
          </a:p>
          <a:p>
            <a:pPr algn="l">
              <a:lnSpc>
                <a:spcPts val="2700"/>
              </a:lnSpc>
            </a:pP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Attrition / </a:t>
            </a:r>
            <a:r>
              <a:rPr lang="en-US" sz="22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AttritionFlag</a:t>
            </a: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 — identifies whether an employee left.</a:t>
            </a:r>
          </a:p>
          <a:p>
            <a:pPr algn="l">
              <a:lnSpc>
                <a:spcPts val="2700"/>
              </a:lnSpc>
            </a:pP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Department, </a:t>
            </a:r>
            <a:r>
              <a:rPr lang="en-US" sz="22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JobRole</a:t>
            </a: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, </a:t>
            </a:r>
            <a:r>
              <a:rPr lang="en-US" sz="22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AgeGroup</a:t>
            </a: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, </a:t>
            </a:r>
            <a:r>
              <a:rPr lang="en-US" sz="22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JobSatisfaction</a:t>
            </a: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, </a:t>
            </a:r>
            <a:r>
              <a:rPr lang="en-US" sz="22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OverTime</a:t>
            </a: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, </a:t>
            </a:r>
            <a:r>
              <a:rPr lang="en-US" sz="22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YearsAtCompany</a:t>
            </a: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, </a:t>
            </a:r>
            <a:r>
              <a:rPr lang="en-US" sz="22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BusinessTravel</a:t>
            </a: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 — analysis dimensions.</a:t>
            </a:r>
          </a:p>
          <a:p>
            <a:pPr algn="l">
              <a:lnSpc>
                <a:spcPts val="2700"/>
              </a:lnSpc>
            </a:pPr>
            <a:r>
              <a:rPr lang="en-US" sz="2250" dirty="0" err="1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MonthlyIncome</a:t>
            </a:r>
            <a:r>
              <a:rPr lang="en-US" sz="2250" dirty="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 — used for the average monthly income KPI.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78308"/>
            <a:chOff x="0" y="0"/>
            <a:chExt cx="24383390" cy="237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237744"/>
            </a:xfrm>
            <a:custGeom>
              <a:avLst/>
              <a:gdLst/>
              <a:ahLst/>
              <a:cxnLst/>
              <a:rect l="l" t="t" r="r" b="b"/>
              <a:pathLst>
                <a:path w="24383364" h="237744">
                  <a:moveTo>
                    <a:pt x="0" y="0"/>
                  </a:moveTo>
                  <a:lnTo>
                    <a:pt x="24383364" y="0"/>
                  </a:lnTo>
                  <a:lnTo>
                    <a:pt x="24383364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7E57C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27532" y="521589"/>
            <a:ext cx="16587216" cy="59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51416F"/>
                </a:solidFill>
                <a:latin typeface="Aptos Bold"/>
                <a:ea typeface="Aptos Bold"/>
                <a:cs typeface="Aptos Bold"/>
                <a:sym typeface="Aptos Bold"/>
              </a:rPr>
              <a:t>Data Preparation &amp; KPI Definitions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" y="1280160"/>
            <a:ext cx="16450056" cy="37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36C7D"/>
                </a:solidFill>
                <a:latin typeface="Aptos"/>
                <a:ea typeface="Aptos"/>
                <a:cs typeface="Aptos"/>
                <a:sym typeface="Aptos"/>
              </a:rPr>
              <a:t>The meaning behind the headline numbers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84396" y="2050256"/>
            <a:ext cx="4129088" cy="2003108"/>
            <a:chOff x="0" y="0"/>
            <a:chExt cx="5505450" cy="26708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05450" cy="2670810"/>
            </a:xfrm>
            <a:custGeom>
              <a:avLst/>
              <a:gdLst/>
              <a:ahLst/>
              <a:cxnLst/>
              <a:rect l="l" t="t" r="r" b="b"/>
              <a:pathLst>
                <a:path w="5505450" h="267081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5060315" y="0"/>
                  </a:lnTo>
                  <a:cubicBezTo>
                    <a:pt x="5306187" y="0"/>
                    <a:pt x="5505450" y="199263"/>
                    <a:pt x="5505450" y="445135"/>
                  </a:cubicBezTo>
                  <a:lnTo>
                    <a:pt x="5505450" y="2225675"/>
                  </a:lnTo>
                  <a:cubicBezTo>
                    <a:pt x="5505450" y="2471547"/>
                    <a:pt x="5306187" y="2670810"/>
                    <a:pt x="5060315" y="2670810"/>
                  </a:cubicBezTo>
                  <a:lnTo>
                    <a:pt x="445135" y="2670810"/>
                  </a:lnTo>
                  <a:cubicBezTo>
                    <a:pt x="199263" y="2670810"/>
                    <a:pt x="0" y="2471547"/>
                    <a:pt x="0" y="22256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211580" y="2285619"/>
            <a:ext cx="347472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TOTAL EMPLOYEES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1580" y="2884932"/>
            <a:ext cx="3474720" cy="9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Count of employees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Dashboard: 1,470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204936" y="2050256"/>
            <a:ext cx="4129088" cy="2003108"/>
            <a:chOff x="0" y="0"/>
            <a:chExt cx="5505450" cy="26708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05450" cy="2670810"/>
            </a:xfrm>
            <a:custGeom>
              <a:avLst/>
              <a:gdLst/>
              <a:ahLst/>
              <a:cxnLst/>
              <a:rect l="l" t="t" r="r" b="b"/>
              <a:pathLst>
                <a:path w="5505450" h="267081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5060315" y="0"/>
                  </a:lnTo>
                  <a:cubicBezTo>
                    <a:pt x="5306187" y="0"/>
                    <a:pt x="5505450" y="199263"/>
                    <a:pt x="5505450" y="445135"/>
                  </a:cubicBezTo>
                  <a:lnTo>
                    <a:pt x="5505450" y="2225675"/>
                  </a:lnTo>
                  <a:cubicBezTo>
                    <a:pt x="5505450" y="2471547"/>
                    <a:pt x="5306187" y="2670810"/>
                    <a:pt x="5060315" y="2670810"/>
                  </a:cubicBezTo>
                  <a:lnTo>
                    <a:pt x="445135" y="2670810"/>
                  </a:lnTo>
                  <a:cubicBezTo>
                    <a:pt x="199263" y="2670810"/>
                    <a:pt x="0" y="2471547"/>
                    <a:pt x="0" y="22256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5532120" y="2285619"/>
            <a:ext cx="347472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EMPLOYEES LEFT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32120" y="2884932"/>
            <a:ext cx="3474720" cy="9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Count where Attrition = Yes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Dashboard: 237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525476" y="2050256"/>
            <a:ext cx="3717608" cy="2003108"/>
            <a:chOff x="0" y="0"/>
            <a:chExt cx="4956810" cy="26708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56810" cy="2670810"/>
            </a:xfrm>
            <a:custGeom>
              <a:avLst/>
              <a:gdLst/>
              <a:ahLst/>
              <a:cxnLst/>
              <a:rect l="l" t="t" r="r" b="b"/>
              <a:pathLst>
                <a:path w="4956810" h="267081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511675" y="0"/>
                  </a:lnTo>
                  <a:cubicBezTo>
                    <a:pt x="4757547" y="0"/>
                    <a:pt x="4956810" y="199263"/>
                    <a:pt x="4956810" y="445135"/>
                  </a:cubicBezTo>
                  <a:lnTo>
                    <a:pt x="4956810" y="2225675"/>
                  </a:lnTo>
                  <a:cubicBezTo>
                    <a:pt x="4956810" y="2471547"/>
                    <a:pt x="4757547" y="2670810"/>
                    <a:pt x="4511675" y="2670810"/>
                  </a:cubicBezTo>
                  <a:lnTo>
                    <a:pt x="445135" y="2670810"/>
                  </a:lnTo>
                  <a:cubicBezTo>
                    <a:pt x="199263" y="2670810"/>
                    <a:pt x="0" y="2471547"/>
                    <a:pt x="0" y="22256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852660" y="2285619"/>
            <a:ext cx="306324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ATTRITION RATE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52660" y="2875407"/>
            <a:ext cx="3063240" cy="9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Employees left ÷ total employees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Dashboard: 16.12%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434536" y="2050256"/>
            <a:ext cx="3923347" cy="2003108"/>
            <a:chOff x="0" y="0"/>
            <a:chExt cx="5231130" cy="26708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31130" cy="2670810"/>
            </a:xfrm>
            <a:custGeom>
              <a:avLst/>
              <a:gdLst/>
              <a:ahLst/>
              <a:cxnLst/>
              <a:rect l="l" t="t" r="r" b="b"/>
              <a:pathLst>
                <a:path w="5231130" h="267081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4785995" y="0"/>
                  </a:lnTo>
                  <a:cubicBezTo>
                    <a:pt x="5031867" y="0"/>
                    <a:pt x="5231130" y="199263"/>
                    <a:pt x="5231130" y="445135"/>
                  </a:cubicBezTo>
                  <a:lnTo>
                    <a:pt x="5231130" y="2225675"/>
                  </a:lnTo>
                  <a:cubicBezTo>
                    <a:pt x="5231130" y="2471547"/>
                    <a:pt x="5031867" y="2670810"/>
                    <a:pt x="4785995" y="2670810"/>
                  </a:cubicBezTo>
                  <a:lnTo>
                    <a:pt x="445135" y="2670810"/>
                  </a:lnTo>
                  <a:cubicBezTo>
                    <a:pt x="199263" y="2670810"/>
                    <a:pt x="0" y="2471547"/>
                    <a:pt x="0" y="22256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761720" y="2285619"/>
            <a:ext cx="326898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AVG. MONTHLY INCOME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61720" y="2884932"/>
            <a:ext cx="3268980" cy="9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Average of MonthlyIncome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Verify final card value before submission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5588" y="4805172"/>
            <a:ext cx="15965424" cy="369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Counts and rates answer different questions; the rate is used to compare groups of different sizes.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Visual-level filters were used for departure-count charts; rate charts use the Attrition Rate measure without filtering the dataset to Attrition = Yes.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The report uses a consistent purple, lavender, and white theme for readability.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78308"/>
            <a:chOff x="0" y="0"/>
            <a:chExt cx="24383390" cy="237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237744"/>
            </a:xfrm>
            <a:custGeom>
              <a:avLst/>
              <a:gdLst/>
              <a:ahLst/>
              <a:cxnLst/>
              <a:rect l="l" t="t" r="r" b="b"/>
              <a:pathLst>
                <a:path w="24383364" h="237744">
                  <a:moveTo>
                    <a:pt x="0" y="0"/>
                  </a:moveTo>
                  <a:lnTo>
                    <a:pt x="24383364" y="0"/>
                  </a:lnTo>
                  <a:lnTo>
                    <a:pt x="24383364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7E57C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27532" y="521589"/>
            <a:ext cx="16587216" cy="59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51416F"/>
                </a:solidFill>
                <a:latin typeface="Aptos Bold"/>
                <a:ea typeface="Aptos Bold"/>
                <a:cs typeface="Aptos Bold"/>
                <a:sym typeface="Aptos Bold"/>
              </a:rPr>
              <a:t>Executive Dashboard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987820" y="1453515"/>
            <a:ext cx="14266640" cy="7818120"/>
            <a:chOff x="0" y="0"/>
            <a:chExt cx="19022187" cy="10424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022188" cy="10424160"/>
            </a:xfrm>
            <a:custGeom>
              <a:avLst/>
              <a:gdLst/>
              <a:ahLst/>
              <a:cxnLst/>
              <a:rect l="l" t="t" r="r" b="b"/>
              <a:pathLst>
                <a:path w="19022188" h="10424160">
                  <a:moveTo>
                    <a:pt x="0" y="0"/>
                  </a:moveTo>
                  <a:lnTo>
                    <a:pt x="19022188" y="0"/>
                  </a:lnTo>
                  <a:lnTo>
                    <a:pt x="19022188" y="10424160"/>
                  </a:lnTo>
                  <a:lnTo>
                    <a:pt x="0" y="1042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28" b="-72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78308"/>
            <a:chOff x="0" y="0"/>
            <a:chExt cx="24383390" cy="237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237744"/>
            </a:xfrm>
            <a:custGeom>
              <a:avLst/>
              <a:gdLst/>
              <a:ahLst/>
              <a:cxnLst/>
              <a:rect l="l" t="t" r="r" b="b"/>
              <a:pathLst>
                <a:path w="24383364" h="237744">
                  <a:moveTo>
                    <a:pt x="0" y="0"/>
                  </a:moveTo>
                  <a:lnTo>
                    <a:pt x="24383364" y="0"/>
                  </a:lnTo>
                  <a:lnTo>
                    <a:pt x="24383364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7E57C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84396" y="2050256"/>
            <a:ext cx="5363528" cy="2277428"/>
            <a:chOff x="0" y="0"/>
            <a:chExt cx="7151370" cy="30365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51370" cy="3036570"/>
            </a:xfrm>
            <a:custGeom>
              <a:avLst/>
              <a:gdLst/>
              <a:ahLst/>
              <a:cxnLst/>
              <a:rect l="l" t="t" r="r" b="b"/>
              <a:pathLst>
                <a:path w="7151370" h="3036570">
                  <a:moveTo>
                    <a:pt x="0" y="506095"/>
                  </a:moveTo>
                  <a:cubicBezTo>
                    <a:pt x="0" y="226568"/>
                    <a:pt x="226568" y="0"/>
                    <a:pt x="506095" y="0"/>
                  </a:cubicBezTo>
                  <a:lnTo>
                    <a:pt x="6645275" y="0"/>
                  </a:lnTo>
                  <a:cubicBezTo>
                    <a:pt x="6924802" y="0"/>
                    <a:pt x="7151370" y="226568"/>
                    <a:pt x="7151370" y="506095"/>
                  </a:cubicBezTo>
                  <a:lnTo>
                    <a:pt x="7151370" y="2530475"/>
                  </a:lnTo>
                  <a:cubicBezTo>
                    <a:pt x="7151370" y="2810002"/>
                    <a:pt x="6924802" y="3036570"/>
                    <a:pt x="6645275" y="3036570"/>
                  </a:cubicBezTo>
                  <a:lnTo>
                    <a:pt x="506095" y="3036570"/>
                  </a:lnTo>
                  <a:cubicBezTo>
                    <a:pt x="226568" y="3036570"/>
                    <a:pt x="0" y="2810002"/>
                    <a:pt x="0" y="25304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39376" y="2050256"/>
            <a:ext cx="5363528" cy="2277428"/>
            <a:chOff x="0" y="0"/>
            <a:chExt cx="7151370" cy="30365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51370" cy="3036570"/>
            </a:xfrm>
            <a:custGeom>
              <a:avLst/>
              <a:gdLst/>
              <a:ahLst/>
              <a:cxnLst/>
              <a:rect l="l" t="t" r="r" b="b"/>
              <a:pathLst>
                <a:path w="7151370" h="3036570">
                  <a:moveTo>
                    <a:pt x="0" y="506095"/>
                  </a:moveTo>
                  <a:cubicBezTo>
                    <a:pt x="0" y="226568"/>
                    <a:pt x="226568" y="0"/>
                    <a:pt x="506095" y="0"/>
                  </a:cubicBezTo>
                  <a:lnTo>
                    <a:pt x="6645275" y="0"/>
                  </a:lnTo>
                  <a:cubicBezTo>
                    <a:pt x="6924802" y="0"/>
                    <a:pt x="7151370" y="226568"/>
                    <a:pt x="7151370" y="506095"/>
                  </a:cubicBezTo>
                  <a:lnTo>
                    <a:pt x="7151370" y="2530475"/>
                  </a:lnTo>
                  <a:cubicBezTo>
                    <a:pt x="7151370" y="2810002"/>
                    <a:pt x="6924802" y="3036570"/>
                    <a:pt x="6645275" y="3036570"/>
                  </a:cubicBezTo>
                  <a:lnTo>
                    <a:pt x="506095" y="3036570"/>
                  </a:lnTo>
                  <a:cubicBezTo>
                    <a:pt x="226568" y="3036570"/>
                    <a:pt x="0" y="2810002"/>
                    <a:pt x="0" y="25304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1994356" y="2050256"/>
            <a:ext cx="5363528" cy="2277428"/>
            <a:chOff x="0" y="0"/>
            <a:chExt cx="7151370" cy="30365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51370" cy="3036570"/>
            </a:xfrm>
            <a:custGeom>
              <a:avLst/>
              <a:gdLst/>
              <a:ahLst/>
              <a:cxnLst/>
              <a:rect l="l" t="t" r="r" b="b"/>
              <a:pathLst>
                <a:path w="7151370" h="3036570">
                  <a:moveTo>
                    <a:pt x="0" y="506095"/>
                  </a:moveTo>
                  <a:cubicBezTo>
                    <a:pt x="0" y="226568"/>
                    <a:pt x="226568" y="0"/>
                    <a:pt x="506095" y="0"/>
                  </a:cubicBezTo>
                  <a:lnTo>
                    <a:pt x="6645275" y="0"/>
                  </a:lnTo>
                  <a:cubicBezTo>
                    <a:pt x="6924802" y="0"/>
                    <a:pt x="7151370" y="226568"/>
                    <a:pt x="7151370" y="506095"/>
                  </a:cubicBezTo>
                  <a:lnTo>
                    <a:pt x="7151370" y="2530475"/>
                  </a:lnTo>
                  <a:cubicBezTo>
                    <a:pt x="7151370" y="2810002"/>
                    <a:pt x="6924802" y="3036570"/>
                    <a:pt x="6645275" y="3036570"/>
                  </a:cubicBezTo>
                  <a:lnTo>
                    <a:pt x="506095" y="3036570"/>
                  </a:lnTo>
                  <a:cubicBezTo>
                    <a:pt x="226568" y="3036570"/>
                    <a:pt x="0" y="2810002"/>
                    <a:pt x="0" y="25304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4854892"/>
            <a:ext cx="7915275" cy="3663315"/>
            <a:chOff x="0" y="0"/>
            <a:chExt cx="10553700" cy="48844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53700" cy="4884420"/>
            </a:xfrm>
            <a:custGeom>
              <a:avLst/>
              <a:gdLst/>
              <a:ahLst/>
              <a:cxnLst/>
              <a:rect l="l" t="t" r="r" b="b"/>
              <a:pathLst>
                <a:path w="10553700" h="4884420">
                  <a:moveTo>
                    <a:pt x="0" y="814070"/>
                  </a:moveTo>
                  <a:cubicBezTo>
                    <a:pt x="0" y="364490"/>
                    <a:pt x="364490" y="0"/>
                    <a:pt x="814070" y="0"/>
                  </a:cubicBezTo>
                  <a:lnTo>
                    <a:pt x="9739630" y="0"/>
                  </a:lnTo>
                  <a:cubicBezTo>
                    <a:pt x="10189210" y="0"/>
                    <a:pt x="10553700" y="364490"/>
                    <a:pt x="10553700" y="814070"/>
                  </a:cubicBezTo>
                  <a:lnTo>
                    <a:pt x="10553700" y="4070350"/>
                  </a:lnTo>
                  <a:cubicBezTo>
                    <a:pt x="10553700" y="4519930"/>
                    <a:pt x="10189210" y="4884420"/>
                    <a:pt x="9739630" y="4884420"/>
                  </a:cubicBezTo>
                  <a:lnTo>
                    <a:pt x="814070" y="4884420"/>
                  </a:lnTo>
                  <a:cubicBezTo>
                    <a:pt x="364490" y="4884420"/>
                    <a:pt x="0" y="4519930"/>
                    <a:pt x="0" y="4070350"/>
                  </a:cubicBezTo>
                  <a:close/>
                </a:path>
              </a:pathLst>
            </a:custGeom>
            <a:blipFill>
              <a:blip r:embed="rId2"/>
              <a:stretch>
                <a:fillRect t="-3133" b="-33907"/>
              </a:stretch>
            </a:blipFill>
            <a:ln w="28575" cap="sq">
              <a:solidFill>
                <a:srgbClr val="B39DDB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312593" y="4854892"/>
            <a:ext cx="7915275" cy="3663315"/>
            <a:chOff x="0" y="0"/>
            <a:chExt cx="10553700" cy="48844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53700" cy="4884420"/>
            </a:xfrm>
            <a:custGeom>
              <a:avLst/>
              <a:gdLst/>
              <a:ahLst/>
              <a:cxnLst/>
              <a:rect l="l" t="t" r="r" b="b"/>
              <a:pathLst>
                <a:path w="10553700" h="4884420">
                  <a:moveTo>
                    <a:pt x="0" y="814070"/>
                  </a:moveTo>
                  <a:cubicBezTo>
                    <a:pt x="0" y="364490"/>
                    <a:pt x="364490" y="0"/>
                    <a:pt x="814070" y="0"/>
                  </a:cubicBezTo>
                  <a:lnTo>
                    <a:pt x="9739630" y="0"/>
                  </a:lnTo>
                  <a:cubicBezTo>
                    <a:pt x="10189210" y="0"/>
                    <a:pt x="10553700" y="364490"/>
                    <a:pt x="10553700" y="814070"/>
                  </a:cubicBezTo>
                  <a:lnTo>
                    <a:pt x="10553700" y="4070350"/>
                  </a:lnTo>
                  <a:cubicBezTo>
                    <a:pt x="10553700" y="4519930"/>
                    <a:pt x="10189210" y="4884420"/>
                    <a:pt x="9739630" y="4884420"/>
                  </a:cubicBezTo>
                  <a:lnTo>
                    <a:pt x="814070" y="4884420"/>
                  </a:lnTo>
                  <a:cubicBezTo>
                    <a:pt x="364490" y="4884420"/>
                    <a:pt x="0" y="4519930"/>
                    <a:pt x="0" y="4070350"/>
                  </a:cubicBezTo>
                  <a:close/>
                </a:path>
              </a:pathLst>
            </a:custGeom>
            <a:blipFill>
              <a:blip r:embed="rId3"/>
              <a:stretch>
                <a:fillRect t="-36967" b="-36967"/>
              </a:stretch>
            </a:blipFill>
            <a:ln w="28575" cap="sq">
              <a:solidFill>
                <a:srgbClr val="B39DDB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827532" y="521589"/>
            <a:ext cx="16587216" cy="59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51416F"/>
                </a:solidFill>
                <a:latin typeface="Aptos Bold"/>
                <a:ea typeface="Aptos Bold"/>
                <a:cs typeface="Aptos Bold"/>
                <a:sym typeface="Aptos Bold"/>
              </a:rPr>
              <a:t>Department &amp; Job Role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8680" y="1280160"/>
            <a:ext cx="16450056" cy="37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36C7D"/>
                </a:solidFill>
                <a:latin typeface="Aptos"/>
                <a:ea typeface="Aptos"/>
                <a:cs typeface="Aptos"/>
                <a:sym typeface="Aptos"/>
              </a:rPr>
              <a:t>Use the visuals to compare volume and relative attrition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1580" y="2285619"/>
            <a:ext cx="470916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EMPLOYEES WHO LEFT BY DEPARTMENT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1580" y="2875407"/>
            <a:ext cx="4709160" cy="123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Clustered bar chart compares departure counts across departments.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66560" y="2285619"/>
            <a:ext cx="470916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ATTRITION RATE BY DEPARTMENT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66560" y="2875407"/>
            <a:ext cx="4709160" cy="123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Donut chart compares the rate for Sales, Human Resources, and Research &amp; Development.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21540" y="2285619"/>
            <a:ext cx="470916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ATTRITION RATE BY JOB ROLE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21540" y="2875407"/>
            <a:ext cx="4709160" cy="123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Clustered bar chart highlights variation by job role.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78308"/>
            <a:chOff x="0" y="0"/>
            <a:chExt cx="24383390" cy="237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237744"/>
            </a:xfrm>
            <a:custGeom>
              <a:avLst/>
              <a:gdLst/>
              <a:ahLst/>
              <a:cxnLst/>
              <a:rect l="l" t="t" r="r" b="b"/>
              <a:pathLst>
                <a:path w="24383364" h="237744">
                  <a:moveTo>
                    <a:pt x="0" y="0"/>
                  </a:moveTo>
                  <a:lnTo>
                    <a:pt x="24383364" y="0"/>
                  </a:lnTo>
                  <a:lnTo>
                    <a:pt x="24383364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7E57C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84396" y="1981676"/>
            <a:ext cx="5363528" cy="1865948"/>
            <a:chOff x="0" y="0"/>
            <a:chExt cx="7151370" cy="24879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51370" cy="2487930"/>
            </a:xfrm>
            <a:custGeom>
              <a:avLst/>
              <a:gdLst/>
              <a:ahLst/>
              <a:cxnLst/>
              <a:rect l="l" t="t" r="r" b="b"/>
              <a:pathLst>
                <a:path w="7151370" h="248793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6736715" y="0"/>
                  </a:lnTo>
                  <a:cubicBezTo>
                    <a:pt x="6965696" y="0"/>
                    <a:pt x="7151370" y="185674"/>
                    <a:pt x="7151370" y="414655"/>
                  </a:cubicBezTo>
                  <a:lnTo>
                    <a:pt x="7151370" y="2073275"/>
                  </a:lnTo>
                  <a:cubicBezTo>
                    <a:pt x="7151370" y="2302256"/>
                    <a:pt x="6965696" y="2487930"/>
                    <a:pt x="67367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39376" y="1981676"/>
            <a:ext cx="5363528" cy="1865948"/>
            <a:chOff x="0" y="0"/>
            <a:chExt cx="7151370" cy="24879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51370" cy="2487930"/>
            </a:xfrm>
            <a:custGeom>
              <a:avLst/>
              <a:gdLst/>
              <a:ahLst/>
              <a:cxnLst/>
              <a:rect l="l" t="t" r="r" b="b"/>
              <a:pathLst>
                <a:path w="7151370" h="248793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6736715" y="0"/>
                  </a:lnTo>
                  <a:cubicBezTo>
                    <a:pt x="6965696" y="0"/>
                    <a:pt x="7151370" y="185674"/>
                    <a:pt x="7151370" y="414655"/>
                  </a:cubicBezTo>
                  <a:lnTo>
                    <a:pt x="7151370" y="2073275"/>
                  </a:lnTo>
                  <a:cubicBezTo>
                    <a:pt x="7151370" y="2302256"/>
                    <a:pt x="6965696" y="2487930"/>
                    <a:pt x="67367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1994356" y="1981676"/>
            <a:ext cx="5363528" cy="1865948"/>
            <a:chOff x="0" y="0"/>
            <a:chExt cx="7151370" cy="24879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51370" cy="2487930"/>
            </a:xfrm>
            <a:custGeom>
              <a:avLst/>
              <a:gdLst/>
              <a:ahLst/>
              <a:cxnLst/>
              <a:rect l="l" t="t" r="r" b="b"/>
              <a:pathLst>
                <a:path w="7151370" h="248793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6736715" y="0"/>
                  </a:lnTo>
                  <a:cubicBezTo>
                    <a:pt x="6965696" y="0"/>
                    <a:pt x="7151370" y="185674"/>
                    <a:pt x="7151370" y="414655"/>
                  </a:cubicBezTo>
                  <a:lnTo>
                    <a:pt x="7151370" y="2073275"/>
                  </a:lnTo>
                  <a:cubicBezTo>
                    <a:pt x="7151370" y="2302256"/>
                    <a:pt x="6965696" y="2487930"/>
                    <a:pt x="67367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77252" y="4237672"/>
            <a:ext cx="5309235" cy="3800475"/>
            <a:chOff x="0" y="0"/>
            <a:chExt cx="7078980" cy="5067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78980" cy="5067300"/>
            </a:xfrm>
            <a:custGeom>
              <a:avLst/>
              <a:gdLst/>
              <a:ahLst/>
              <a:cxnLst/>
              <a:rect l="l" t="t" r="r" b="b"/>
              <a:pathLst>
                <a:path w="7078980" h="5067300">
                  <a:moveTo>
                    <a:pt x="0" y="844550"/>
                  </a:moveTo>
                  <a:cubicBezTo>
                    <a:pt x="0" y="378079"/>
                    <a:pt x="378079" y="0"/>
                    <a:pt x="844550" y="0"/>
                  </a:cubicBezTo>
                  <a:lnTo>
                    <a:pt x="6234430" y="0"/>
                  </a:lnTo>
                  <a:cubicBezTo>
                    <a:pt x="6700901" y="0"/>
                    <a:pt x="7078980" y="378079"/>
                    <a:pt x="7078980" y="844550"/>
                  </a:cubicBezTo>
                  <a:lnTo>
                    <a:pt x="7078980" y="4222750"/>
                  </a:lnTo>
                  <a:cubicBezTo>
                    <a:pt x="7078980" y="4689221"/>
                    <a:pt x="6700901" y="5067300"/>
                    <a:pt x="6234430" y="5067300"/>
                  </a:cubicBezTo>
                  <a:lnTo>
                    <a:pt x="844550" y="5067300"/>
                  </a:lnTo>
                  <a:cubicBezTo>
                    <a:pt x="378079" y="5067300"/>
                    <a:pt x="0" y="4689221"/>
                    <a:pt x="0" y="4222750"/>
                  </a:cubicBezTo>
                  <a:close/>
                </a:path>
              </a:pathLst>
            </a:custGeom>
            <a:blipFill>
              <a:blip r:embed="rId2"/>
              <a:stretch>
                <a:fillRect b="-12457"/>
              </a:stretch>
            </a:blipFill>
            <a:ln w="28575" cap="sq">
              <a:solidFill>
                <a:srgbClr val="B39DDB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500812" y="4237672"/>
            <a:ext cx="5309235" cy="3800475"/>
            <a:chOff x="0" y="0"/>
            <a:chExt cx="7078980" cy="5067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78980" cy="5067300"/>
            </a:xfrm>
            <a:custGeom>
              <a:avLst/>
              <a:gdLst/>
              <a:ahLst/>
              <a:cxnLst/>
              <a:rect l="l" t="t" r="r" b="b"/>
              <a:pathLst>
                <a:path w="7078980" h="5067300">
                  <a:moveTo>
                    <a:pt x="0" y="844550"/>
                  </a:moveTo>
                  <a:cubicBezTo>
                    <a:pt x="0" y="378079"/>
                    <a:pt x="378079" y="0"/>
                    <a:pt x="844550" y="0"/>
                  </a:cubicBezTo>
                  <a:lnTo>
                    <a:pt x="6234430" y="0"/>
                  </a:lnTo>
                  <a:cubicBezTo>
                    <a:pt x="6700901" y="0"/>
                    <a:pt x="7078980" y="378079"/>
                    <a:pt x="7078980" y="844550"/>
                  </a:cubicBezTo>
                  <a:lnTo>
                    <a:pt x="7078980" y="4222750"/>
                  </a:lnTo>
                  <a:cubicBezTo>
                    <a:pt x="7078980" y="4689221"/>
                    <a:pt x="6700901" y="5067300"/>
                    <a:pt x="6234430" y="5067300"/>
                  </a:cubicBezTo>
                  <a:lnTo>
                    <a:pt x="844550" y="5067300"/>
                  </a:lnTo>
                  <a:cubicBezTo>
                    <a:pt x="378079" y="5067300"/>
                    <a:pt x="0" y="4689221"/>
                    <a:pt x="0" y="4222750"/>
                  </a:cubicBezTo>
                  <a:close/>
                </a:path>
              </a:pathLst>
            </a:custGeom>
            <a:blipFill>
              <a:blip r:embed="rId3"/>
              <a:stretch>
                <a:fillRect l="-3552" r="-3552"/>
              </a:stretch>
            </a:blipFill>
            <a:ln w="28575" cap="sq">
              <a:solidFill>
                <a:srgbClr val="B39DDB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124372" y="4237672"/>
            <a:ext cx="5309235" cy="3800475"/>
            <a:chOff x="0" y="0"/>
            <a:chExt cx="7078980" cy="5067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78980" cy="5067300"/>
            </a:xfrm>
            <a:custGeom>
              <a:avLst/>
              <a:gdLst/>
              <a:ahLst/>
              <a:cxnLst/>
              <a:rect l="l" t="t" r="r" b="b"/>
              <a:pathLst>
                <a:path w="7078980" h="5067300">
                  <a:moveTo>
                    <a:pt x="0" y="844550"/>
                  </a:moveTo>
                  <a:cubicBezTo>
                    <a:pt x="0" y="378079"/>
                    <a:pt x="378079" y="0"/>
                    <a:pt x="844550" y="0"/>
                  </a:cubicBezTo>
                  <a:lnTo>
                    <a:pt x="6234430" y="0"/>
                  </a:lnTo>
                  <a:cubicBezTo>
                    <a:pt x="6700901" y="0"/>
                    <a:pt x="7078980" y="378079"/>
                    <a:pt x="7078980" y="844550"/>
                  </a:cubicBezTo>
                  <a:lnTo>
                    <a:pt x="7078980" y="4222750"/>
                  </a:lnTo>
                  <a:cubicBezTo>
                    <a:pt x="7078980" y="4689221"/>
                    <a:pt x="6700901" y="5067300"/>
                    <a:pt x="6234430" y="5067300"/>
                  </a:cubicBezTo>
                  <a:lnTo>
                    <a:pt x="844550" y="5067300"/>
                  </a:lnTo>
                  <a:cubicBezTo>
                    <a:pt x="378079" y="5067300"/>
                    <a:pt x="0" y="4689221"/>
                    <a:pt x="0" y="4222750"/>
                  </a:cubicBezTo>
                  <a:close/>
                </a:path>
              </a:pathLst>
            </a:custGeom>
            <a:blipFill>
              <a:blip r:embed="rId4"/>
              <a:stretch>
                <a:fillRect l="-1871" r="-1871"/>
              </a:stretch>
            </a:blipFill>
            <a:ln w="28575" cap="sq">
              <a:solidFill>
                <a:srgbClr val="B39DDB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827532" y="521589"/>
            <a:ext cx="16587216" cy="59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51416F"/>
                </a:solidFill>
                <a:latin typeface="Aptos Bold"/>
                <a:ea typeface="Aptos Bold"/>
                <a:cs typeface="Aptos Bold"/>
                <a:sym typeface="Aptos Bold"/>
              </a:rPr>
              <a:t>Attrition Patterns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8680" y="1280160"/>
            <a:ext cx="16450056" cy="37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36C7D"/>
                </a:solidFill>
                <a:latin typeface="Aptos"/>
                <a:ea typeface="Aptos"/>
                <a:cs typeface="Aptos"/>
                <a:sym typeface="Aptos"/>
              </a:rPr>
              <a:t>Age, overtime, satisfaction, tenure, and business travel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1580" y="2217039"/>
            <a:ext cx="470916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ATTRITION BY AGE GROUP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1580" y="2806827"/>
            <a:ext cx="4709160" cy="823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Column chart compares attrition rates across age bands.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66560" y="2217039"/>
            <a:ext cx="470916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ATTRITION BY OVERTIME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66560" y="2806827"/>
            <a:ext cx="4709160" cy="823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Compares attrition rates for employees who do and do not work overtime.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21540" y="2217039"/>
            <a:ext cx="470916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JOB SATISFACTION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21540" y="2806827"/>
            <a:ext cx="4709160" cy="823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Donut shows the 237 departures split across satisfaction codes 1–4.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78308"/>
            <a:chOff x="0" y="0"/>
            <a:chExt cx="24383390" cy="237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237744"/>
            </a:xfrm>
            <a:custGeom>
              <a:avLst/>
              <a:gdLst/>
              <a:ahLst/>
              <a:cxnLst/>
              <a:rect l="l" t="t" r="r" b="b"/>
              <a:pathLst>
                <a:path w="24383364" h="237744">
                  <a:moveTo>
                    <a:pt x="0" y="0"/>
                  </a:moveTo>
                  <a:lnTo>
                    <a:pt x="24383364" y="0"/>
                  </a:lnTo>
                  <a:lnTo>
                    <a:pt x="24383364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7E57C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27532" y="521589"/>
            <a:ext cx="16587216" cy="59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51416F"/>
                </a:solidFill>
                <a:latin typeface="Aptos Bold"/>
                <a:ea typeface="Aptos Bold"/>
                <a:cs typeface="Aptos Bold"/>
                <a:sym typeface="Aptos Bold"/>
              </a:rPr>
              <a:t>Interactivity, Learning &amp; 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" y="1280160"/>
            <a:ext cx="16450056" cy="37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736C7D"/>
                </a:solidFill>
                <a:latin typeface="Aptos"/>
                <a:ea typeface="Aptos"/>
                <a:cs typeface="Aptos"/>
                <a:sym typeface="Aptos"/>
              </a:rPr>
              <a:t>What the project demonstrates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84396" y="1981676"/>
            <a:ext cx="7969568" cy="2140267"/>
            <a:chOff x="0" y="0"/>
            <a:chExt cx="10626090" cy="2853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26090" cy="2853690"/>
            </a:xfrm>
            <a:custGeom>
              <a:avLst/>
              <a:gdLst/>
              <a:ahLst/>
              <a:cxnLst/>
              <a:rect l="l" t="t" r="r" b="b"/>
              <a:pathLst>
                <a:path w="10626090" h="2853690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10150475" y="0"/>
                  </a:lnTo>
                  <a:cubicBezTo>
                    <a:pt x="10413111" y="0"/>
                    <a:pt x="10626090" y="212979"/>
                    <a:pt x="10626090" y="475615"/>
                  </a:cubicBezTo>
                  <a:lnTo>
                    <a:pt x="10626090" y="2378075"/>
                  </a:lnTo>
                  <a:cubicBezTo>
                    <a:pt x="10626090" y="2640711"/>
                    <a:pt x="10413111" y="2853690"/>
                    <a:pt x="10150475" y="2853690"/>
                  </a:cubicBezTo>
                  <a:lnTo>
                    <a:pt x="475615" y="2853690"/>
                  </a:lnTo>
                  <a:cubicBezTo>
                    <a:pt x="212979" y="2853690"/>
                    <a:pt x="0" y="2640711"/>
                    <a:pt x="0" y="23780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211580" y="2217039"/>
            <a:ext cx="731520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SIX INTERACTIVE SLICERS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1580" y="2816352"/>
            <a:ext cx="7315200" cy="108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Department • Job Role • Business Travel • Age Group • Gender • Marital Status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251156" y="1981676"/>
            <a:ext cx="8106728" cy="2140267"/>
            <a:chOff x="0" y="0"/>
            <a:chExt cx="10808970" cy="28536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808970" cy="2853690"/>
            </a:xfrm>
            <a:custGeom>
              <a:avLst/>
              <a:gdLst/>
              <a:ahLst/>
              <a:cxnLst/>
              <a:rect l="l" t="t" r="r" b="b"/>
              <a:pathLst>
                <a:path w="10808970" h="2853690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10333355" y="0"/>
                  </a:lnTo>
                  <a:cubicBezTo>
                    <a:pt x="10595991" y="0"/>
                    <a:pt x="10808970" y="212979"/>
                    <a:pt x="10808970" y="475615"/>
                  </a:cubicBezTo>
                  <a:lnTo>
                    <a:pt x="10808970" y="2378075"/>
                  </a:lnTo>
                  <a:cubicBezTo>
                    <a:pt x="10808970" y="2640711"/>
                    <a:pt x="10595991" y="2853690"/>
                    <a:pt x="10333355" y="2853690"/>
                  </a:cubicBezTo>
                  <a:lnTo>
                    <a:pt x="475615" y="2853690"/>
                  </a:lnTo>
                  <a:cubicBezTo>
                    <a:pt x="212979" y="2853690"/>
                    <a:pt x="0" y="2640711"/>
                    <a:pt x="0" y="23780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CCE4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9578340" y="2217039"/>
            <a:ext cx="745236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KEY LEARNING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78340" y="2816352"/>
            <a:ext cx="7452360" cy="108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Power BI visuals, measures, filters, slicers, visual selection, formatting, and choosing counts versus rates.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5588" y="4805172"/>
            <a:ext cx="15965424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Challenge: keeping visual calculations accurate. Solution: check field wells, aggregation, and filter context.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Challenge: fitting multiple visuals on one page. Solution: consistent styling and a grouped slicer panel.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Conclusion: the dashboard makes workforce attrition patterns easier to explore and compare.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D2837"/>
                </a:solidFill>
                <a:latin typeface="Aptos"/>
                <a:ea typeface="Aptos"/>
                <a:cs typeface="Aptos"/>
                <a:sym typeface="Aptos"/>
              </a:rPr>
              <a:t>Acknowledgement: Shadow Fox, mentor Mr. Aakash.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9012" y="8645652"/>
            <a:ext cx="15901416" cy="47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7E57C2"/>
                </a:solidFill>
                <a:latin typeface="Aptos Bold"/>
                <a:ea typeface="Aptos Bold"/>
                <a:cs typeface="Aptos Bold"/>
                <a:sym typeface="Aptos Bold"/>
              </a:rPr>
              <a:t>Prepared by Nitu Singh • Shadow Fox Data Analytics Internship •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Custom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Bold</vt:lpstr>
      <vt:lpstr>Arial</vt:lpstr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ShadowFox_Advanced_IBM_HR_Analytics_Presentation.pptx</dc:title>
  <cp:lastModifiedBy>nitu singh</cp:lastModifiedBy>
  <cp:revision>2</cp:revision>
  <dcterms:created xsi:type="dcterms:W3CDTF">2006-08-16T00:00:00Z</dcterms:created>
  <dcterms:modified xsi:type="dcterms:W3CDTF">2026-10-29T11:42:43Z</dcterms:modified>
  <dc:identifier>DAHZYtN58Gk</dc:identifier>
</cp:coreProperties>
</file>