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ptos Bold" charset="1" panose="020B0004020202020204"/>
      <p:regular r:id="rId14"/>
    </p:embeddedFont>
    <p:embeddedFont>
      <p:font typeface="Aptos" charset="1" panose="020B000402020202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EA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7817" y="747817"/>
            <a:ext cx="16760904" cy="8730767"/>
            <a:chOff x="0" y="0"/>
            <a:chExt cx="22347872" cy="116410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347810" cy="11640948"/>
            </a:xfrm>
            <a:custGeom>
              <a:avLst/>
              <a:gdLst/>
              <a:ahLst/>
              <a:cxnLst/>
              <a:rect r="r" b="b" t="t" l="l"/>
              <a:pathLst>
                <a:path h="11640948" w="22347810">
                  <a:moveTo>
                    <a:pt x="0" y="1940179"/>
                  </a:moveTo>
                  <a:cubicBezTo>
                    <a:pt x="0" y="868680"/>
                    <a:pt x="868680" y="0"/>
                    <a:pt x="1940179" y="0"/>
                  </a:cubicBezTo>
                  <a:lnTo>
                    <a:pt x="20407630" y="0"/>
                  </a:lnTo>
                  <a:cubicBezTo>
                    <a:pt x="21479129" y="0"/>
                    <a:pt x="22347810" y="868680"/>
                    <a:pt x="22347810" y="1940179"/>
                  </a:cubicBezTo>
                  <a:lnTo>
                    <a:pt x="22347810" y="9700768"/>
                  </a:lnTo>
                  <a:cubicBezTo>
                    <a:pt x="22347810" y="10772267"/>
                    <a:pt x="21479129" y="11640948"/>
                    <a:pt x="20407630" y="11640948"/>
                  </a:cubicBezTo>
                  <a:lnTo>
                    <a:pt x="1940179" y="11640948"/>
                  </a:lnTo>
                  <a:cubicBezTo>
                    <a:pt x="868680" y="11641074"/>
                    <a:pt x="0" y="10772394"/>
                    <a:pt x="0" y="970076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CAE0E0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445828" y="1779470"/>
            <a:ext cx="15364892" cy="412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147D87"/>
                </a:solidFill>
                <a:latin typeface="Aptos Bold"/>
                <a:ea typeface="Aptos Bold"/>
                <a:cs typeface="Aptos Bold"/>
                <a:sym typeface="Aptos Bold"/>
              </a:rPr>
              <a:t>SHADOW FOX  |  INTERMEDIATE DATA ANALYST PROJECT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45828" y="2808970"/>
            <a:ext cx="15364892" cy="961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4"/>
              </a:lnSpc>
            </a:pPr>
            <a:r>
              <a:rPr lang="en-US" sz="5103" b="true">
                <a:solidFill>
                  <a:srgbClr val="1C303E"/>
                </a:solidFill>
                <a:latin typeface="Aptos Bold"/>
                <a:ea typeface="Aptos Bold"/>
                <a:cs typeface="Aptos Bold"/>
                <a:sym typeface="Aptos Bold"/>
              </a:rPr>
              <a:t>ONLINE RETAIL II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45828" y="4053907"/>
            <a:ext cx="15364892" cy="608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2"/>
              </a:lnSpc>
            </a:pPr>
            <a:r>
              <a:rPr lang="en-US" sz="3152">
                <a:solidFill>
                  <a:srgbClr val="147D87"/>
                </a:solidFill>
                <a:latin typeface="Aptos"/>
                <a:ea typeface="Aptos"/>
                <a:cs typeface="Aptos"/>
                <a:sym typeface="Aptos"/>
              </a:rPr>
              <a:t>Sales Performance &amp; Customer Insights Dashboard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83093" y="5769740"/>
            <a:ext cx="15090362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1C303E"/>
                </a:solidFill>
                <a:latin typeface="Aptos"/>
                <a:ea typeface="Aptos"/>
                <a:cs typeface="Aptos"/>
                <a:sym typeface="Aptos"/>
              </a:rPr>
              <a:t>Prepared by: Nitu Singh</a:t>
            </a: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1C303E"/>
                </a:solidFill>
                <a:latin typeface="Aptos"/>
                <a:ea typeface="Aptos"/>
                <a:cs typeface="Aptos"/>
                <a:sym typeface="Aptos"/>
              </a:rPr>
              <a:t>Osmania University  •  Mentor: Mr. Aakash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83093" y="7622848"/>
            <a:ext cx="15090362" cy="402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5A6971"/>
                </a:solidFill>
                <a:latin typeface="Aptos"/>
                <a:ea typeface="Aptos"/>
                <a:cs typeface="Aptos"/>
                <a:sym typeface="Aptos"/>
              </a:rPr>
              <a:t>Internship period: 1 October – 31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8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64725"/>
            <a:chOff x="0" y="0"/>
            <a:chExt cx="24402453" cy="2196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19583"/>
            </a:xfrm>
            <a:custGeom>
              <a:avLst/>
              <a:gdLst/>
              <a:ahLst/>
              <a:cxnLst/>
              <a:rect r="r" b="b" t="t" l="l"/>
              <a:pathLst>
                <a:path h="219583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147D87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28123" y="484956"/>
            <a:ext cx="16600303" cy="608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C303E"/>
                </a:solidFill>
                <a:latin typeface="Aptos Bold"/>
                <a:ea typeface="Aptos Bold"/>
                <a:cs typeface="Aptos Bold"/>
                <a:sym typeface="Aptos Bold"/>
              </a:rPr>
              <a:t>Project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69299" y="1281103"/>
            <a:ext cx="16325764" cy="334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5A6971"/>
                </a:solidFill>
                <a:latin typeface="Aptos"/>
                <a:ea typeface="Aptos"/>
                <a:cs typeface="Aptos"/>
                <a:sym typeface="Aptos"/>
              </a:rPr>
              <a:t>From raw retail transactions to business insights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85092" y="1983229"/>
            <a:ext cx="7975797" cy="2347846"/>
            <a:chOff x="0" y="0"/>
            <a:chExt cx="10634396" cy="31304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634345" cy="3130423"/>
            </a:xfrm>
            <a:custGeom>
              <a:avLst/>
              <a:gdLst/>
              <a:ahLst/>
              <a:cxnLst/>
              <a:rect r="r" b="b" t="t" l="l"/>
              <a:pathLst>
                <a:path h="3130423" w="10634345">
                  <a:moveTo>
                    <a:pt x="0" y="521716"/>
                  </a:moveTo>
                  <a:cubicBezTo>
                    <a:pt x="0" y="233553"/>
                    <a:pt x="233553" y="0"/>
                    <a:pt x="521716" y="0"/>
                  </a:cubicBezTo>
                  <a:lnTo>
                    <a:pt x="10112629" y="0"/>
                  </a:lnTo>
                  <a:cubicBezTo>
                    <a:pt x="10400792" y="0"/>
                    <a:pt x="10634345" y="233553"/>
                    <a:pt x="10634345" y="521716"/>
                  </a:cubicBezTo>
                  <a:lnTo>
                    <a:pt x="10634345" y="2608707"/>
                  </a:lnTo>
                  <a:cubicBezTo>
                    <a:pt x="10634345" y="2896870"/>
                    <a:pt x="10400792" y="3130423"/>
                    <a:pt x="10112629" y="3130423"/>
                  </a:cubicBezTo>
                  <a:lnTo>
                    <a:pt x="521716" y="3130423"/>
                  </a:lnTo>
                  <a:cubicBezTo>
                    <a:pt x="233553" y="3130423"/>
                    <a:pt x="0" y="2896870"/>
                    <a:pt x="0" y="2608707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CAE0E0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171289" y="2228250"/>
            <a:ext cx="7403392" cy="334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47D87"/>
                </a:solidFill>
                <a:latin typeface="Aptos Bold"/>
                <a:ea typeface="Aptos Bold"/>
                <a:cs typeface="Aptos Bold"/>
                <a:sym typeface="Aptos Bold"/>
              </a:rPr>
              <a:t>OBJECTIVE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1289" y="2777319"/>
            <a:ext cx="7403392" cy="1336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1C303E"/>
                </a:solidFill>
                <a:latin typeface="Aptos"/>
                <a:ea typeface="Aptos"/>
                <a:cs typeface="Aptos"/>
                <a:sym typeface="Aptos"/>
              </a:rPr>
              <a:t>Understand revenue trends, top products and countries, customer segments, order values, and customer behaviour.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258386" y="1983229"/>
            <a:ext cx="8113062" cy="2347846"/>
            <a:chOff x="0" y="0"/>
            <a:chExt cx="10817416" cy="313046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817352" cy="3130423"/>
            </a:xfrm>
            <a:custGeom>
              <a:avLst/>
              <a:gdLst/>
              <a:ahLst/>
              <a:cxnLst/>
              <a:rect r="r" b="b" t="t" l="l"/>
              <a:pathLst>
                <a:path h="3130423" w="10817352">
                  <a:moveTo>
                    <a:pt x="0" y="521716"/>
                  </a:moveTo>
                  <a:cubicBezTo>
                    <a:pt x="0" y="233553"/>
                    <a:pt x="233553" y="0"/>
                    <a:pt x="521716" y="0"/>
                  </a:cubicBezTo>
                  <a:lnTo>
                    <a:pt x="10295636" y="0"/>
                  </a:lnTo>
                  <a:cubicBezTo>
                    <a:pt x="10583799" y="0"/>
                    <a:pt x="10817352" y="233553"/>
                    <a:pt x="10817352" y="521716"/>
                  </a:cubicBezTo>
                  <a:lnTo>
                    <a:pt x="10817352" y="2608707"/>
                  </a:lnTo>
                  <a:cubicBezTo>
                    <a:pt x="10817352" y="2896870"/>
                    <a:pt x="10583799" y="3130423"/>
                    <a:pt x="10295636" y="3130423"/>
                  </a:cubicBezTo>
                  <a:lnTo>
                    <a:pt x="521716" y="3130423"/>
                  </a:lnTo>
                  <a:cubicBezTo>
                    <a:pt x="233553" y="3130423"/>
                    <a:pt x="0" y="2896870"/>
                    <a:pt x="0" y="2608707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CAE0E0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544593" y="2228250"/>
            <a:ext cx="7540657" cy="334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47D87"/>
                </a:solidFill>
                <a:latin typeface="Aptos Bold"/>
                <a:ea typeface="Aptos Bold"/>
                <a:cs typeface="Aptos Bold"/>
                <a:sym typeface="Aptos Bold"/>
              </a:rPr>
              <a:t>FINAL OUTPUT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44593" y="2777319"/>
            <a:ext cx="7540657" cy="1336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1C303E"/>
                </a:solidFill>
                <a:latin typeface="Aptos"/>
                <a:ea typeface="Aptos"/>
                <a:cs typeface="Aptos"/>
                <a:sym typeface="Aptos"/>
              </a:rPr>
              <a:t>An interactive Power BI dashboard with KPI cards, time trends, rankings, a map, a matrix, and Year/Country slicers.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6502" y="5083407"/>
            <a:ext cx="15859096" cy="3175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1C303E"/>
                </a:solidFill>
                <a:latin typeface="Aptos"/>
                <a:ea typeface="Aptos"/>
                <a:cs typeface="Aptos"/>
                <a:sym typeface="Aptos"/>
              </a:rPr>
              <a:t>Project title: Online Retail II — Sales Performance &amp; Customer Insights Dashboard.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1C303E"/>
                </a:solidFill>
                <a:latin typeface="Aptos"/>
                <a:ea typeface="Aptos"/>
                <a:cs typeface="Aptos"/>
                <a:sym typeface="Aptos"/>
              </a:rPr>
              <a:t>Analysis period spans 2009–2011; 2009 and 2011 are partial years.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1C303E"/>
                </a:solidFill>
                <a:latin typeface="Aptos"/>
                <a:ea typeface="Aptos"/>
                <a:cs typeface="Aptos"/>
                <a:sym typeface="Aptos"/>
              </a:rPr>
              <a:t>The dashboard is descriptive: it highlights patterns and contributors rather than proving causes.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8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64725"/>
            <a:chOff x="0" y="0"/>
            <a:chExt cx="24402453" cy="2196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19583"/>
            </a:xfrm>
            <a:custGeom>
              <a:avLst/>
              <a:gdLst/>
              <a:ahLst/>
              <a:cxnLst/>
              <a:rect r="r" b="b" t="t" l="l"/>
              <a:pathLst>
                <a:path h="219583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147D87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28123" y="484956"/>
            <a:ext cx="16600303" cy="608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C303E"/>
                </a:solidFill>
                <a:latin typeface="Aptos Bold"/>
                <a:ea typeface="Aptos Bold"/>
                <a:cs typeface="Aptos Bold"/>
                <a:sym typeface="Aptos Bold"/>
              </a:rPr>
              <a:t>Dataset &amp; Tools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69299" y="1281103"/>
            <a:ext cx="16325764" cy="334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5A6971"/>
                </a:solidFill>
                <a:latin typeface="Aptos"/>
                <a:ea typeface="Aptos"/>
                <a:cs typeface="Aptos"/>
                <a:sym typeface="Aptos"/>
              </a:rPr>
              <a:t>The source file and workflow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85092" y="1983229"/>
            <a:ext cx="5299091" cy="2141944"/>
            <a:chOff x="0" y="0"/>
            <a:chExt cx="7065454" cy="28559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65390" cy="2855976"/>
            </a:xfrm>
            <a:custGeom>
              <a:avLst/>
              <a:gdLst/>
              <a:ahLst/>
              <a:cxnLst/>
              <a:rect r="r" b="b" t="t" l="l"/>
              <a:pathLst>
                <a:path h="2855976" w="7065390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6589395" y="0"/>
                  </a:lnTo>
                  <a:cubicBezTo>
                    <a:pt x="6852285" y="0"/>
                    <a:pt x="7065390" y="213106"/>
                    <a:pt x="7065390" y="475996"/>
                  </a:cubicBezTo>
                  <a:lnTo>
                    <a:pt x="7065390" y="2379980"/>
                  </a:lnTo>
                  <a:cubicBezTo>
                    <a:pt x="7065390" y="2642870"/>
                    <a:pt x="6852285" y="2855976"/>
                    <a:pt x="6589395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CAE0E0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171289" y="2228250"/>
            <a:ext cx="4726686" cy="334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47D87"/>
                </a:solidFill>
                <a:latin typeface="Aptos Bold"/>
                <a:ea typeface="Aptos Bold"/>
                <a:cs typeface="Aptos Bold"/>
                <a:sym typeface="Aptos Bold"/>
              </a:rPr>
              <a:t>SOURCE FILE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1289" y="2777319"/>
            <a:ext cx="4726686" cy="1130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1C303E"/>
                </a:solidFill>
                <a:latin typeface="Aptos"/>
                <a:ea typeface="Aptos"/>
                <a:cs typeface="Aptos"/>
                <a:sym typeface="Aptos"/>
              </a:rPr>
              <a:t>Online_Retail_II.csv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1C303E"/>
                </a:solidFill>
                <a:latin typeface="Aptos"/>
                <a:ea typeface="Aptos"/>
                <a:cs typeface="Aptos"/>
                <a:sym typeface="Aptos"/>
              </a:rPr>
              <a:t>1,067,371 rows • 8 columns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513043" y="1983229"/>
            <a:ext cx="5299091" cy="2141944"/>
            <a:chOff x="0" y="0"/>
            <a:chExt cx="7065454" cy="28559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65390" cy="2855976"/>
            </a:xfrm>
            <a:custGeom>
              <a:avLst/>
              <a:gdLst/>
              <a:ahLst/>
              <a:cxnLst/>
              <a:rect r="r" b="b" t="t" l="l"/>
              <a:pathLst>
                <a:path h="2855976" w="7065390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6589395" y="0"/>
                  </a:lnTo>
                  <a:cubicBezTo>
                    <a:pt x="6852285" y="0"/>
                    <a:pt x="7065390" y="213106"/>
                    <a:pt x="7065390" y="475996"/>
                  </a:cubicBezTo>
                  <a:lnTo>
                    <a:pt x="7065390" y="2379980"/>
                  </a:lnTo>
                  <a:cubicBezTo>
                    <a:pt x="7065390" y="2642870"/>
                    <a:pt x="6852285" y="2855976"/>
                    <a:pt x="6589395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CAE0E0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6799250" y="2228250"/>
            <a:ext cx="4726686" cy="334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47D87"/>
                </a:solidFill>
                <a:latin typeface="Aptos Bold"/>
                <a:ea typeface="Aptos Bold"/>
                <a:cs typeface="Aptos Bold"/>
                <a:sym typeface="Aptos Bold"/>
              </a:rPr>
              <a:t>PREPARATION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99250" y="2777319"/>
            <a:ext cx="4726686" cy="1130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1C303E"/>
                </a:solidFill>
                <a:latin typeface="Aptos"/>
                <a:ea typeface="Aptos"/>
                <a:cs typeface="Aptos"/>
                <a:sym typeface="Aptos"/>
              </a:rPr>
              <a:t>Python + Pandas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1C303E"/>
                </a:solidFill>
                <a:latin typeface="Aptos"/>
                <a:ea typeface="Aptos"/>
                <a:cs typeface="Aptos"/>
                <a:sym typeface="Aptos"/>
              </a:rPr>
              <a:t>Google Colab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141003" y="1983229"/>
            <a:ext cx="5299091" cy="2141944"/>
            <a:chOff x="0" y="0"/>
            <a:chExt cx="7065454" cy="28559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65390" cy="2855976"/>
            </a:xfrm>
            <a:custGeom>
              <a:avLst/>
              <a:gdLst/>
              <a:ahLst/>
              <a:cxnLst/>
              <a:rect r="r" b="b" t="t" l="l"/>
              <a:pathLst>
                <a:path h="2855976" w="7065390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6589395" y="0"/>
                  </a:lnTo>
                  <a:cubicBezTo>
                    <a:pt x="6852285" y="0"/>
                    <a:pt x="7065390" y="213106"/>
                    <a:pt x="7065390" y="475996"/>
                  </a:cubicBezTo>
                  <a:lnTo>
                    <a:pt x="7065390" y="2379980"/>
                  </a:lnTo>
                  <a:cubicBezTo>
                    <a:pt x="7065390" y="2642870"/>
                    <a:pt x="6852285" y="2855976"/>
                    <a:pt x="6589395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CAE0E0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2427201" y="2228250"/>
            <a:ext cx="4726686" cy="334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47D87"/>
                </a:solidFill>
                <a:latin typeface="Aptos Bold"/>
                <a:ea typeface="Aptos Bold"/>
                <a:cs typeface="Aptos Bold"/>
                <a:sym typeface="Aptos Bold"/>
              </a:rPr>
              <a:t>DASHBOARD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427201" y="2777319"/>
            <a:ext cx="4726686" cy="1130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1C303E"/>
                </a:solidFill>
                <a:latin typeface="Aptos"/>
                <a:ea typeface="Aptos"/>
                <a:cs typeface="Aptos"/>
                <a:sym typeface="Aptos"/>
              </a:rPr>
              <a:t>Power BI Desktop</a:t>
            </a:r>
          </a:p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1C303E"/>
                </a:solidFill>
                <a:latin typeface="Aptos"/>
                <a:ea typeface="Aptos"/>
                <a:cs typeface="Aptos"/>
                <a:sym typeface="Aptos"/>
              </a:rPr>
              <a:t>CSV analytical tables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76502" y="4946142"/>
            <a:ext cx="15996371" cy="3587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C303E"/>
                </a:solidFill>
                <a:latin typeface="Aptos"/>
                <a:ea typeface="Aptos"/>
                <a:cs typeface="Aptos"/>
                <a:sym typeface="Aptos"/>
              </a:rPr>
              <a:t>Fields: Invoice, StockCode, Description, Quantity, InvoiceDate, Price, Customer ID, Country.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C303E"/>
                </a:solidFill>
                <a:latin typeface="Aptos"/>
                <a:ea typeface="Aptos"/>
                <a:cs typeface="Aptos"/>
                <a:sym typeface="Aptos"/>
              </a:rPr>
              <a:t>Inspected columns, data types, missing values, and duplicates.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C303E"/>
                </a:solidFill>
                <a:latin typeface="Aptos"/>
                <a:ea typeface="Aptos"/>
                <a:cs typeface="Aptos"/>
                <a:sym typeface="Aptos"/>
              </a:rPr>
              <a:t>Created nine outputs for sales, RFM customers, monthly/yearly revenue, products, countries, segments, yearly product sales, and top orders.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8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64725"/>
            <a:chOff x="0" y="0"/>
            <a:chExt cx="24402453" cy="2196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19583"/>
            </a:xfrm>
            <a:custGeom>
              <a:avLst/>
              <a:gdLst/>
              <a:ahLst/>
              <a:cxnLst/>
              <a:rect r="r" b="b" t="t" l="l"/>
              <a:pathLst>
                <a:path h="219583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147D87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28123" y="484956"/>
            <a:ext cx="16600303" cy="608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C303E"/>
                </a:solidFill>
                <a:latin typeface="Aptos Bold"/>
                <a:ea typeface="Aptos Bold"/>
                <a:cs typeface="Aptos Bold"/>
                <a:sym typeface="Aptos Bold"/>
              </a:rPr>
              <a:t>Data Preparation &amp; Metric Definitions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69299" y="1281103"/>
            <a:ext cx="16325764" cy="334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5A6971"/>
                </a:solidFill>
                <a:latin typeface="Aptos"/>
                <a:ea typeface="Aptos"/>
                <a:cs typeface="Aptos"/>
                <a:sym typeface="Aptos"/>
              </a:rPr>
              <a:t>Documenting the choices that affect the results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85092" y="1983229"/>
            <a:ext cx="4132316" cy="2141944"/>
            <a:chOff x="0" y="0"/>
            <a:chExt cx="5509755" cy="28559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509768" cy="2855976"/>
            </a:xfrm>
            <a:custGeom>
              <a:avLst/>
              <a:gdLst/>
              <a:ahLst/>
              <a:cxnLst/>
              <a:rect r="r" b="b" t="t" l="l"/>
              <a:pathLst>
                <a:path h="2855976" w="5509768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5033772" y="0"/>
                  </a:lnTo>
                  <a:cubicBezTo>
                    <a:pt x="5296662" y="0"/>
                    <a:pt x="5509768" y="213106"/>
                    <a:pt x="5509768" y="475996"/>
                  </a:cubicBezTo>
                  <a:lnTo>
                    <a:pt x="5509768" y="2379980"/>
                  </a:lnTo>
                  <a:cubicBezTo>
                    <a:pt x="5509768" y="2642870"/>
                    <a:pt x="5296662" y="2855976"/>
                    <a:pt x="5033772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CAE0E0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171289" y="2228250"/>
            <a:ext cx="3559912" cy="334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47D87"/>
                </a:solidFill>
                <a:latin typeface="Aptos Bold"/>
                <a:ea typeface="Aptos Bold"/>
                <a:cs typeface="Aptos Bold"/>
                <a:sym typeface="Aptos Bold"/>
              </a:rPr>
              <a:t>DUPLICATES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1289" y="2777319"/>
            <a:ext cx="3559912" cy="1130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C303E"/>
                </a:solidFill>
                <a:latin typeface="Aptos"/>
                <a:ea typeface="Aptos"/>
                <a:cs typeface="Aptos"/>
                <a:sym typeface="Aptos"/>
              </a:rPr>
              <a:t>34,335 removed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C303E"/>
                </a:solidFill>
                <a:latin typeface="Aptos"/>
                <a:ea typeface="Aptos"/>
                <a:cs typeface="Aptos"/>
                <a:sym typeface="Aptos"/>
              </a:rPr>
              <a:t>1,033,036 remained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209003" y="1983229"/>
            <a:ext cx="4132316" cy="2141944"/>
            <a:chOff x="0" y="0"/>
            <a:chExt cx="5509755" cy="28559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509768" cy="2855976"/>
            </a:xfrm>
            <a:custGeom>
              <a:avLst/>
              <a:gdLst/>
              <a:ahLst/>
              <a:cxnLst/>
              <a:rect r="r" b="b" t="t" l="l"/>
              <a:pathLst>
                <a:path h="2855976" w="5509768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5033772" y="0"/>
                  </a:lnTo>
                  <a:cubicBezTo>
                    <a:pt x="5296662" y="0"/>
                    <a:pt x="5509768" y="213106"/>
                    <a:pt x="5509768" y="475996"/>
                  </a:cubicBezTo>
                  <a:lnTo>
                    <a:pt x="5509768" y="2379980"/>
                  </a:lnTo>
                  <a:cubicBezTo>
                    <a:pt x="5509768" y="2642870"/>
                    <a:pt x="5296662" y="2855976"/>
                    <a:pt x="5033772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CAE0E0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5495211" y="2228250"/>
            <a:ext cx="3559912" cy="334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47D87"/>
                </a:solidFill>
                <a:latin typeface="Aptos Bold"/>
                <a:ea typeface="Aptos Bold"/>
                <a:cs typeface="Aptos Bold"/>
                <a:sym typeface="Aptos Bold"/>
              </a:rPr>
              <a:t>SALES DATA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495211" y="2777319"/>
            <a:ext cx="3559912" cy="1130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C303E"/>
                </a:solidFill>
                <a:latin typeface="Aptos"/>
                <a:ea typeface="Aptos"/>
                <a:cs typeface="Aptos"/>
                <a:sym typeface="Aptos"/>
              </a:rPr>
              <a:t>1,007,913 rows after business-rule filters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532925" y="1983229"/>
            <a:ext cx="3720513" cy="2141944"/>
            <a:chOff x="0" y="0"/>
            <a:chExt cx="4960684" cy="28559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960747" cy="2855976"/>
            </a:xfrm>
            <a:custGeom>
              <a:avLst/>
              <a:gdLst/>
              <a:ahLst/>
              <a:cxnLst/>
              <a:rect r="r" b="b" t="t" l="l"/>
              <a:pathLst>
                <a:path h="2855976" w="4960747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4484751" y="0"/>
                  </a:lnTo>
                  <a:cubicBezTo>
                    <a:pt x="4747641" y="0"/>
                    <a:pt x="4960747" y="213106"/>
                    <a:pt x="4960747" y="475996"/>
                  </a:cubicBezTo>
                  <a:lnTo>
                    <a:pt x="4960747" y="2379980"/>
                  </a:lnTo>
                  <a:cubicBezTo>
                    <a:pt x="4960747" y="2642870"/>
                    <a:pt x="4747641" y="2855976"/>
                    <a:pt x="4484751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CAE0E0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9819122" y="2228250"/>
            <a:ext cx="3148108" cy="334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47D87"/>
                </a:solidFill>
                <a:latin typeface="Aptos Bold"/>
                <a:ea typeface="Aptos Bold"/>
                <a:cs typeface="Aptos Bold"/>
                <a:sym typeface="Aptos Bold"/>
              </a:rPr>
              <a:t>REVENUE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19122" y="2777319"/>
            <a:ext cx="3148108" cy="1130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1C303E"/>
                </a:solidFill>
                <a:latin typeface="Aptos"/>
                <a:ea typeface="Aptos"/>
                <a:cs typeface="Aptos"/>
                <a:sym typeface="Aptos"/>
              </a:rPr>
              <a:t>Quantity × Price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3445042" y="1983229"/>
            <a:ext cx="3926415" cy="2141944"/>
            <a:chOff x="0" y="0"/>
            <a:chExt cx="5235219" cy="285592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35194" cy="2855976"/>
            </a:xfrm>
            <a:custGeom>
              <a:avLst/>
              <a:gdLst/>
              <a:ahLst/>
              <a:cxnLst/>
              <a:rect r="r" b="b" t="t" l="l"/>
              <a:pathLst>
                <a:path h="2855976" w="5235194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4759198" y="0"/>
                  </a:lnTo>
                  <a:cubicBezTo>
                    <a:pt x="5022088" y="0"/>
                    <a:pt x="5235194" y="213106"/>
                    <a:pt x="5235194" y="475996"/>
                  </a:cubicBezTo>
                  <a:lnTo>
                    <a:pt x="5235194" y="2379980"/>
                  </a:lnTo>
                  <a:cubicBezTo>
                    <a:pt x="5235194" y="2642870"/>
                    <a:pt x="5022088" y="2855976"/>
                    <a:pt x="4759198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CAE0E0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3731240" y="2228250"/>
            <a:ext cx="3354010" cy="334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47D87"/>
                </a:solidFill>
                <a:latin typeface="Aptos Bold"/>
                <a:ea typeface="Aptos Bold"/>
                <a:cs typeface="Aptos Bold"/>
                <a:sym typeface="Aptos Bold"/>
              </a:rPr>
              <a:t>CUSTOMER DATA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731240" y="2777319"/>
            <a:ext cx="3354010" cy="1130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C303E"/>
                </a:solidFill>
                <a:latin typeface="Aptos"/>
                <a:ea typeface="Aptos"/>
                <a:cs typeface="Aptos"/>
                <a:sym typeface="Aptos"/>
              </a:rPr>
              <a:t>Missing Customer ID excluded only for customer-level analysis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76502" y="4946142"/>
            <a:ext cx="15996371" cy="3587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C303E"/>
                </a:solidFill>
                <a:latin typeface="Aptos"/>
                <a:ea typeface="Aptos"/>
                <a:cs typeface="Aptos"/>
                <a:sym typeface="Aptos"/>
              </a:rPr>
              <a:t>Excluded cancellation invoices beginning with C, non-positive quantities, and non-positive prices from sales analysis.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C303E"/>
                </a:solidFill>
                <a:latin typeface="Aptos"/>
                <a:ea typeface="Aptos"/>
                <a:cs typeface="Aptos"/>
                <a:sym typeface="Aptos"/>
              </a:rPr>
              <a:t>Kept rows with missing Customer ID for valid overall sales; excluded them from customer/RFM analysis.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C303E"/>
                </a:solidFill>
                <a:latin typeface="Aptos"/>
                <a:ea typeface="Aptos"/>
                <a:cs typeface="Aptos"/>
                <a:sym typeface="Aptos"/>
              </a:rPr>
              <a:t>Flagged an unusually large PAPER CRAFT, LITTLE BIRDIE line for validation rather than automatically deleting it.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64725"/>
            <a:chOff x="0" y="0"/>
            <a:chExt cx="24402453" cy="2196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19583"/>
            </a:xfrm>
            <a:custGeom>
              <a:avLst/>
              <a:gdLst/>
              <a:ahLst/>
              <a:cxnLst/>
              <a:rect r="r" b="b" t="t" l="l"/>
              <a:pathLst>
                <a:path h="219583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147D8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85092" y="1983229"/>
            <a:ext cx="4750022" cy="2279209"/>
            <a:chOff x="0" y="0"/>
            <a:chExt cx="6333363" cy="30389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33363" cy="3038856"/>
            </a:xfrm>
            <a:custGeom>
              <a:avLst/>
              <a:gdLst/>
              <a:ahLst/>
              <a:cxnLst/>
              <a:rect r="r" b="b" t="t" l="l"/>
              <a:pathLst>
                <a:path h="3038856" w="6333363">
                  <a:moveTo>
                    <a:pt x="0" y="506476"/>
                  </a:moveTo>
                  <a:cubicBezTo>
                    <a:pt x="0" y="226822"/>
                    <a:pt x="226822" y="0"/>
                    <a:pt x="506476" y="0"/>
                  </a:cubicBezTo>
                  <a:lnTo>
                    <a:pt x="5826887" y="0"/>
                  </a:lnTo>
                  <a:cubicBezTo>
                    <a:pt x="6106668" y="0"/>
                    <a:pt x="6333363" y="226822"/>
                    <a:pt x="6333363" y="506476"/>
                  </a:cubicBezTo>
                  <a:lnTo>
                    <a:pt x="6333363" y="2532380"/>
                  </a:lnTo>
                  <a:cubicBezTo>
                    <a:pt x="6333363" y="2812161"/>
                    <a:pt x="6106541" y="3038856"/>
                    <a:pt x="5826887" y="3038856"/>
                  </a:cubicBezTo>
                  <a:lnTo>
                    <a:pt x="506476" y="3038856"/>
                  </a:lnTo>
                  <a:cubicBezTo>
                    <a:pt x="226822" y="3038983"/>
                    <a:pt x="0" y="2812161"/>
                    <a:pt x="0" y="25323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CAE0E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787582" y="1983229"/>
            <a:ext cx="4750022" cy="2279209"/>
            <a:chOff x="0" y="0"/>
            <a:chExt cx="6333363" cy="303894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33363" cy="3038856"/>
            </a:xfrm>
            <a:custGeom>
              <a:avLst/>
              <a:gdLst/>
              <a:ahLst/>
              <a:cxnLst/>
              <a:rect r="r" b="b" t="t" l="l"/>
              <a:pathLst>
                <a:path h="3038856" w="6333363">
                  <a:moveTo>
                    <a:pt x="0" y="506476"/>
                  </a:moveTo>
                  <a:cubicBezTo>
                    <a:pt x="0" y="226822"/>
                    <a:pt x="226822" y="0"/>
                    <a:pt x="506476" y="0"/>
                  </a:cubicBezTo>
                  <a:lnTo>
                    <a:pt x="5826887" y="0"/>
                  </a:lnTo>
                  <a:cubicBezTo>
                    <a:pt x="6106668" y="0"/>
                    <a:pt x="6333363" y="226822"/>
                    <a:pt x="6333363" y="506476"/>
                  </a:cubicBezTo>
                  <a:lnTo>
                    <a:pt x="6333363" y="2532380"/>
                  </a:lnTo>
                  <a:cubicBezTo>
                    <a:pt x="6333363" y="2812161"/>
                    <a:pt x="6106541" y="3038856"/>
                    <a:pt x="5826887" y="3038856"/>
                  </a:cubicBezTo>
                  <a:lnTo>
                    <a:pt x="506476" y="3038856"/>
                  </a:lnTo>
                  <a:cubicBezTo>
                    <a:pt x="226822" y="3038983"/>
                    <a:pt x="0" y="2812161"/>
                    <a:pt x="0" y="25323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CAE0E0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2690072" y="1983229"/>
            <a:ext cx="4750022" cy="2279209"/>
            <a:chOff x="0" y="0"/>
            <a:chExt cx="6333363" cy="303894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33363" cy="3038856"/>
            </a:xfrm>
            <a:custGeom>
              <a:avLst/>
              <a:gdLst/>
              <a:ahLst/>
              <a:cxnLst/>
              <a:rect r="r" b="b" t="t" l="l"/>
              <a:pathLst>
                <a:path h="3038856" w="6333363">
                  <a:moveTo>
                    <a:pt x="0" y="506476"/>
                  </a:moveTo>
                  <a:cubicBezTo>
                    <a:pt x="0" y="226822"/>
                    <a:pt x="226822" y="0"/>
                    <a:pt x="506476" y="0"/>
                  </a:cubicBezTo>
                  <a:lnTo>
                    <a:pt x="5826887" y="0"/>
                  </a:lnTo>
                  <a:cubicBezTo>
                    <a:pt x="6106668" y="0"/>
                    <a:pt x="6333363" y="226822"/>
                    <a:pt x="6333363" y="506476"/>
                  </a:cubicBezTo>
                  <a:lnTo>
                    <a:pt x="6333363" y="2532380"/>
                  </a:lnTo>
                  <a:cubicBezTo>
                    <a:pt x="6333363" y="2812161"/>
                    <a:pt x="6106541" y="3038856"/>
                    <a:pt x="5826887" y="3038856"/>
                  </a:cubicBezTo>
                  <a:lnTo>
                    <a:pt x="506476" y="3038856"/>
                  </a:lnTo>
                  <a:cubicBezTo>
                    <a:pt x="226822" y="3038983"/>
                    <a:pt x="0" y="2812161"/>
                    <a:pt x="0" y="25323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CAE0E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3836337" y="4586288"/>
            <a:ext cx="4750022" cy="2279209"/>
            <a:chOff x="0" y="0"/>
            <a:chExt cx="6333363" cy="303894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33363" cy="3038856"/>
            </a:xfrm>
            <a:custGeom>
              <a:avLst/>
              <a:gdLst/>
              <a:ahLst/>
              <a:cxnLst/>
              <a:rect r="r" b="b" t="t" l="l"/>
              <a:pathLst>
                <a:path h="3038856" w="6333363">
                  <a:moveTo>
                    <a:pt x="0" y="506476"/>
                  </a:moveTo>
                  <a:cubicBezTo>
                    <a:pt x="0" y="226822"/>
                    <a:pt x="226822" y="0"/>
                    <a:pt x="506476" y="0"/>
                  </a:cubicBezTo>
                  <a:lnTo>
                    <a:pt x="5826887" y="0"/>
                  </a:lnTo>
                  <a:cubicBezTo>
                    <a:pt x="6106668" y="0"/>
                    <a:pt x="6333363" y="226822"/>
                    <a:pt x="6333363" y="506476"/>
                  </a:cubicBezTo>
                  <a:lnTo>
                    <a:pt x="6333363" y="2532380"/>
                  </a:lnTo>
                  <a:cubicBezTo>
                    <a:pt x="6333363" y="2812161"/>
                    <a:pt x="6106541" y="3038856"/>
                    <a:pt x="5826887" y="3038856"/>
                  </a:cubicBezTo>
                  <a:lnTo>
                    <a:pt x="506476" y="3038856"/>
                  </a:lnTo>
                  <a:cubicBezTo>
                    <a:pt x="226822" y="3038983"/>
                    <a:pt x="0" y="2812161"/>
                    <a:pt x="0" y="25323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CAE0E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738827" y="4586288"/>
            <a:ext cx="4750022" cy="2279209"/>
            <a:chOff x="0" y="0"/>
            <a:chExt cx="6333363" cy="303894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33363" cy="3038856"/>
            </a:xfrm>
            <a:custGeom>
              <a:avLst/>
              <a:gdLst/>
              <a:ahLst/>
              <a:cxnLst/>
              <a:rect r="r" b="b" t="t" l="l"/>
              <a:pathLst>
                <a:path h="3038856" w="6333363">
                  <a:moveTo>
                    <a:pt x="0" y="506476"/>
                  </a:moveTo>
                  <a:cubicBezTo>
                    <a:pt x="0" y="226822"/>
                    <a:pt x="226822" y="0"/>
                    <a:pt x="506476" y="0"/>
                  </a:cubicBezTo>
                  <a:lnTo>
                    <a:pt x="5826887" y="0"/>
                  </a:lnTo>
                  <a:cubicBezTo>
                    <a:pt x="6106668" y="0"/>
                    <a:pt x="6333363" y="226822"/>
                    <a:pt x="6333363" y="506476"/>
                  </a:cubicBezTo>
                  <a:lnTo>
                    <a:pt x="6333363" y="2532380"/>
                  </a:lnTo>
                  <a:cubicBezTo>
                    <a:pt x="6333363" y="2812161"/>
                    <a:pt x="6106541" y="3038856"/>
                    <a:pt x="5826887" y="3038856"/>
                  </a:cubicBezTo>
                  <a:lnTo>
                    <a:pt x="506476" y="3038856"/>
                  </a:lnTo>
                  <a:cubicBezTo>
                    <a:pt x="226822" y="3038983"/>
                    <a:pt x="0" y="2812161"/>
                    <a:pt x="0" y="25323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CAE0E0"/>
              </a:solidFill>
              <a:prstDash val="solid"/>
              <a:miter/>
            </a:ln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2449989" y="7189346"/>
            <a:ext cx="13164384" cy="1191721"/>
          </a:xfrm>
          <a:custGeom>
            <a:avLst/>
            <a:gdLst/>
            <a:ahLst/>
            <a:cxnLst/>
            <a:rect r="r" b="b" t="t" l="l"/>
            <a:pathLst>
              <a:path h="1191721" w="13164384">
                <a:moveTo>
                  <a:pt x="0" y="0"/>
                </a:moveTo>
                <a:lnTo>
                  <a:pt x="13164384" y="0"/>
                </a:lnTo>
                <a:lnTo>
                  <a:pt x="13164384" y="1191721"/>
                </a:lnTo>
                <a:lnTo>
                  <a:pt x="0" y="11917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728" r="0" b="-2728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5" id="15"/>
          <p:cNvSpPr txBox="true"/>
          <p:nvPr/>
        </p:nvSpPr>
        <p:spPr>
          <a:xfrm rot="0">
            <a:off x="828123" y="484956"/>
            <a:ext cx="16600303" cy="608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C303E"/>
                </a:solidFill>
                <a:latin typeface="Aptos Bold"/>
                <a:ea typeface="Aptos Bold"/>
                <a:cs typeface="Aptos Bold"/>
                <a:sym typeface="Aptos Bold"/>
              </a:rPr>
              <a:t>Dashboard KPIs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69299" y="1281103"/>
            <a:ext cx="16325764" cy="334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5A6971"/>
                </a:solidFill>
                <a:latin typeface="Aptos"/>
                <a:ea typeface="Aptos"/>
                <a:cs typeface="Aptos"/>
                <a:sym typeface="Aptos"/>
              </a:rPr>
              <a:t>Headline metrics and what each one means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71289" y="2228250"/>
            <a:ext cx="4177617" cy="334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47D87"/>
                </a:solidFill>
                <a:latin typeface="Aptos Bold"/>
                <a:ea typeface="Aptos Bold"/>
                <a:cs typeface="Aptos Bold"/>
                <a:sym typeface="Aptos Bold"/>
              </a:rPr>
              <a:t>TOTAL REVENUE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71289" y="2777319"/>
            <a:ext cx="4177617" cy="126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C303E"/>
                </a:solidFill>
                <a:latin typeface="Aptos"/>
                <a:ea typeface="Aptos"/>
                <a:cs typeface="Aptos"/>
                <a:sym typeface="Aptos"/>
              </a:rPr>
              <a:t>20,476,260.45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C303E"/>
                </a:solidFill>
                <a:latin typeface="Aptos"/>
                <a:ea typeface="Aptos"/>
                <a:cs typeface="Aptos"/>
                <a:sym typeface="Aptos"/>
              </a:rPr>
              <a:t>Revenue across valid sales rows, including rows with missing Customer ID.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073779" y="2228250"/>
            <a:ext cx="4177617" cy="334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47D87"/>
                </a:solidFill>
                <a:latin typeface="Aptos Bold"/>
                <a:ea typeface="Aptos Bold"/>
                <a:cs typeface="Aptos Bold"/>
                <a:sym typeface="Aptos Bold"/>
              </a:rPr>
              <a:t>TOTAL ORDERS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073779" y="2777319"/>
            <a:ext cx="4177617" cy="126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C303E"/>
                </a:solidFill>
                <a:latin typeface="Aptos"/>
                <a:ea typeface="Aptos"/>
                <a:cs typeface="Aptos"/>
                <a:sym typeface="Aptos"/>
              </a:rPr>
              <a:t>40,077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C303E"/>
                </a:solidFill>
                <a:latin typeface="Aptos"/>
                <a:ea typeface="Aptos"/>
                <a:cs typeface="Aptos"/>
                <a:sym typeface="Aptos"/>
              </a:rPr>
              <a:t>Distinct invoices in Sales_Data.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976269" y="2228250"/>
            <a:ext cx="4177617" cy="334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47D87"/>
                </a:solidFill>
                <a:latin typeface="Aptos Bold"/>
                <a:ea typeface="Aptos Bold"/>
                <a:cs typeface="Aptos Bold"/>
                <a:sym typeface="Aptos Bold"/>
              </a:rPr>
              <a:t>UNIQUE CUSTOMERS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976269" y="2777319"/>
            <a:ext cx="4177617" cy="126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C303E"/>
                </a:solidFill>
                <a:latin typeface="Aptos"/>
                <a:ea typeface="Aptos"/>
                <a:cs typeface="Aptos"/>
                <a:sym typeface="Aptos"/>
              </a:rPr>
              <a:t>5,878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C303E"/>
                </a:solidFill>
                <a:latin typeface="Aptos"/>
                <a:ea typeface="Aptos"/>
                <a:cs typeface="Aptos"/>
                <a:sym typeface="Aptos"/>
              </a:rPr>
              <a:t>Customers with a known Customer ID.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122534" y="4831309"/>
            <a:ext cx="4177617" cy="334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47D87"/>
                </a:solidFill>
                <a:latin typeface="Aptos Bold"/>
                <a:ea typeface="Aptos Bold"/>
                <a:cs typeface="Aptos Bold"/>
                <a:sym typeface="Aptos Bold"/>
              </a:rPr>
              <a:t>AVERAGE ORDER VALUE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122534" y="5380377"/>
            <a:ext cx="4177617" cy="126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C303E"/>
                </a:solidFill>
                <a:latin typeface="Aptos"/>
                <a:ea typeface="Aptos"/>
                <a:cs typeface="Aptos"/>
                <a:sym typeface="Aptos"/>
              </a:rPr>
              <a:t>469.98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C303E"/>
                </a:solidFill>
                <a:latin typeface="Aptos"/>
                <a:ea typeface="Aptos"/>
                <a:cs typeface="Aptos"/>
                <a:sym typeface="Aptos"/>
              </a:rPr>
              <a:t>Mean customer-known order value; currency not labelled until verified.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025024" y="4831309"/>
            <a:ext cx="4177617" cy="334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47D87"/>
                </a:solidFill>
                <a:latin typeface="Aptos Bold"/>
                <a:ea typeface="Aptos Bold"/>
                <a:cs typeface="Aptos Bold"/>
                <a:sym typeface="Aptos Bold"/>
              </a:rPr>
              <a:t>UNITS SOLD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025024" y="5380377"/>
            <a:ext cx="4177617" cy="126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C303E"/>
                </a:solidFill>
                <a:latin typeface="Aptos"/>
                <a:ea typeface="Aptos"/>
                <a:cs typeface="Aptos"/>
                <a:sym typeface="Aptos"/>
              </a:rPr>
              <a:t>~11 million</a:t>
            </a:r>
          </a:p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1C303E"/>
                </a:solidFill>
                <a:latin typeface="Aptos"/>
                <a:ea typeface="Aptos"/>
                <a:cs typeface="Aptos"/>
                <a:sym typeface="Aptos"/>
              </a:rPr>
              <a:t>Sum of quantity across valid sales rows.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81103" y="8932421"/>
            <a:ext cx="15913960" cy="402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true">
                <a:solidFill>
                  <a:srgbClr val="147D87"/>
                </a:solidFill>
                <a:latin typeface="Aptos Bold"/>
                <a:ea typeface="Aptos Bold"/>
                <a:cs typeface="Aptos Bold"/>
                <a:sym typeface="Aptos Bold"/>
              </a:rPr>
              <a:t>Customer-known revenue: 17,374,804.27 • 36,969 customer-known invoices • Median order value: 303.04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8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64725"/>
            <a:chOff x="0" y="0"/>
            <a:chExt cx="24402453" cy="2196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19583"/>
            </a:xfrm>
            <a:custGeom>
              <a:avLst/>
              <a:gdLst/>
              <a:ahLst/>
              <a:cxnLst/>
              <a:rect r="r" b="b" t="t" l="l"/>
              <a:pathLst>
                <a:path h="219583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147D87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28123" y="484956"/>
            <a:ext cx="16600303" cy="608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C303E"/>
                </a:solidFill>
                <a:latin typeface="Aptos Bold"/>
                <a:ea typeface="Aptos Bold"/>
                <a:cs typeface="Aptos Bold"/>
                <a:sym typeface="Aptos Bold"/>
              </a:rPr>
              <a:t>Dashboard Visuals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69299" y="1281103"/>
            <a:ext cx="16325764" cy="334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5A6971"/>
                </a:solidFill>
                <a:latin typeface="Aptos"/>
                <a:ea typeface="Aptos"/>
                <a:cs typeface="Aptos"/>
                <a:sym typeface="Aptos"/>
              </a:rPr>
              <a:t>What each visual answers and why it was selected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85092" y="1914592"/>
            <a:ext cx="5299091" cy="2141944"/>
            <a:chOff x="0" y="0"/>
            <a:chExt cx="7065454" cy="28559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65390" cy="2855976"/>
            </a:xfrm>
            <a:custGeom>
              <a:avLst/>
              <a:gdLst/>
              <a:ahLst/>
              <a:cxnLst/>
              <a:rect r="r" b="b" t="t" l="l"/>
              <a:pathLst>
                <a:path h="2855976" w="7065390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6589395" y="0"/>
                  </a:lnTo>
                  <a:cubicBezTo>
                    <a:pt x="6852285" y="0"/>
                    <a:pt x="7065390" y="213106"/>
                    <a:pt x="7065390" y="475996"/>
                  </a:cubicBezTo>
                  <a:lnTo>
                    <a:pt x="7065390" y="2379980"/>
                  </a:lnTo>
                  <a:cubicBezTo>
                    <a:pt x="7065390" y="2642870"/>
                    <a:pt x="6852285" y="2855976"/>
                    <a:pt x="6589395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CAE0E0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171289" y="2159613"/>
            <a:ext cx="4726686" cy="334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47D87"/>
                </a:solidFill>
                <a:latin typeface="Aptos Bold"/>
                <a:ea typeface="Aptos Bold"/>
                <a:cs typeface="Aptos Bold"/>
                <a:sym typeface="Aptos Bold"/>
              </a:rPr>
              <a:t>MONTHLY REVENUE TREND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1289" y="2699156"/>
            <a:ext cx="4726686" cy="1139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C303E"/>
                </a:solidFill>
                <a:latin typeface="Aptos"/>
                <a:ea typeface="Aptos"/>
                <a:cs typeface="Aptos"/>
                <a:sym typeface="Aptos"/>
              </a:rPr>
              <a:t>Line chart: reveals changes and recurring patterns over time.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513043" y="1914592"/>
            <a:ext cx="5299091" cy="2141944"/>
            <a:chOff x="0" y="0"/>
            <a:chExt cx="7065454" cy="28559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65390" cy="2855976"/>
            </a:xfrm>
            <a:custGeom>
              <a:avLst/>
              <a:gdLst/>
              <a:ahLst/>
              <a:cxnLst/>
              <a:rect r="r" b="b" t="t" l="l"/>
              <a:pathLst>
                <a:path h="2855976" w="7065390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6589395" y="0"/>
                  </a:lnTo>
                  <a:cubicBezTo>
                    <a:pt x="6852285" y="0"/>
                    <a:pt x="7065390" y="213106"/>
                    <a:pt x="7065390" y="475996"/>
                  </a:cubicBezTo>
                  <a:lnTo>
                    <a:pt x="7065390" y="2379980"/>
                  </a:lnTo>
                  <a:cubicBezTo>
                    <a:pt x="7065390" y="2642870"/>
                    <a:pt x="6852285" y="2855976"/>
                    <a:pt x="6589395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CAE0E0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6799250" y="2159613"/>
            <a:ext cx="4726686" cy="334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47D87"/>
                </a:solidFill>
                <a:latin typeface="Aptos Bold"/>
                <a:ea typeface="Aptos Bold"/>
                <a:cs typeface="Aptos Bold"/>
                <a:sym typeface="Aptos Bold"/>
              </a:rPr>
              <a:t>CUSTOMER SEGMENT SHARE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99250" y="2699156"/>
            <a:ext cx="4726686" cy="1139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C303E"/>
                </a:solidFill>
                <a:latin typeface="Aptos"/>
                <a:ea typeface="Aptos"/>
                <a:cs typeface="Aptos"/>
                <a:sym typeface="Aptos"/>
              </a:rPr>
              <a:t>Donut chart: shows each segment's share of the selected measure.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141003" y="1914592"/>
            <a:ext cx="5299091" cy="2141944"/>
            <a:chOff x="0" y="0"/>
            <a:chExt cx="7065454" cy="28559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65390" cy="2855976"/>
            </a:xfrm>
            <a:custGeom>
              <a:avLst/>
              <a:gdLst/>
              <a:ahLst/>
              <a:cxnLst/>
              <a:rect r="r" b="b" t="t" l="l"/>
              <a:pathLst>
                <a:path h="2855976" w="7065390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6589395" y="0"/>
                  </a:lnTo>
                  <a:cubicBezTo>
                    <a:pt x="6852285" y="0"/>
                    <a:pt x="7065390" y="213106"/>
                    <a:pt x="7065390" y="475996"/>
                  </a:cubicBezTo>
                  <a:lnTo>
                    <a:pt x="7065390" y="2379980"/>
                  </a:lnTo>
                  <a:cubicBezTo>
                    <a:pt x="7065390" y="2642870"/>
                    <a:pt x="6852285" y="2855976"/>
                    <a:pt x="6589395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CAE0E0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2427201" y="2159613"/>
            <a:ext cx="4726686" cy="334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47D87"/>
                </a:solidFill>
                <a:latin typeface="Aptos Bold"/>
                <a:ea typeface="Aptos Bold"/>
                <a:cs typeface="Aptos Bold"/>
                <a:sym typeface="Aptos Bold"/>
              </a:rPr>
              <a:t>TOP 10 PRODUCTS / COUNTRIES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427201" y="2699156"/>
            <a:ext cx="4726686" cy="1139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C303E"/>
                </a:solidFill>
                <a:latin typeface="Aptos"/>
                <a:ea typeface="Aptos"/>
                <a:cs typeface="Aptos"/>
                <a:sym typeface="Aptos"/>
              </a:rPr>
              <a:t>Bar charts: make ranked comparisons easier to read.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85092" y="4454033"/>
            <a:ext cx="5299091" cy="2141944"/>
            <a:chOff x="0" y="0"/>
            <a:chExt cx="7065454" cy="285592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65390" cy="2855976"/>
            </a:xfrm>
            <a:custGeom>
              <a:avLst/>
              <a:gdLst/>
              <a:ahLst/>
              <a:cxnLst/>
              <a:rect r="r" b="b" t="t" l="l"/>
              <a:pathLst>
                <a:path h="2855976" w="7065390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6589395" y="0"/>
                  </a:lnTo>
                  <a:cubicBezTo>
                    <a:pt x="6852285" y="0"/>
                    <a:pt x="7065390" y="213106"/>
                    <a:pt x="7065390" y="475996"/>
                  </a:cubicBezTo>
                  <a:lnTo>
                    <a:pt x="7065390" y="2379980"/>
                  </a:lnTo>
                  <a:cubicBezTo>
                    <a:pt x="7065390" y="2642870"/>
                    <a:pt x="6852285" y="2855976"/>
                    <a:pt x="6589395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CAE0E0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171289" y="4699054"/>
            <a:ext cx="4726686" cy="334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47D87"/>
                </a:solidFill>
                <a:latin typeface="Aptos Bold"/>
                <a:ea typeface="Aptos Bold"/>
                <a:cs typeface="Aptos Bold"/>
                <a:sym typeface="Aptos Bold"/>
              </a:rPr>
              <a:t>YEARLY REVENUE / GROWTH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71289" y="5238598"/>
            <a:ext cx="4726686" cy="1139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C303E"/>
                </a:solidFill>
                <a:latin typeface="Aptos"/>
                <a:ea typeface="Aptos"/>
                <a:cs typeface="Aptos"/>
                <a:sym typeface="Aptos"/>
              </a:rPr>
              <a:t>Column or trend visuals compare annual totals and period changes.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513043" y="4454033"/>
            <a:ext cx="5299091" cy="2141944"/>
            <a:chOff x="0" y="0"/>
            <a:chExt cx="7065454" cy="285592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065390" cy="2855976"/>
            </a:xfrm>
            <a:custGeom>
              <a:avLst/>
              <a:gdLst/>
              <a:ahLst/>
              <a:cxnLst/>
              <a:rect r="r" b="b" t="t" l="l"/>
              <a:pathLst>
                <a:path h="2855976" w="7065390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6589395" y="0"/>
                  </a:lnTo>
                  <a:cubicBezTo>
                    <a:pt x="6852285" y="0"/>
                    <a:pt x="7065390" y="213106"/>
                    <a:pt x="7065390" y="475996"/>
                  </a:cubicBezTo>
                  <a:lnTo>
                    <a:pt x="7065390" y="2379980"/>
                  </a:lnTo>
                  <a:cubicBezTo>
                    <a:pt x="7065390" y="2642870"/>
                    <a:pt x="6852285" y="2855976"/>
                    <a:pt x="6589395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CAE0E0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6799250" y="4699054"/>
            <a:ext cx="4726686" cy="334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47D87"/>
                </a:solidFill>
                <a:latin typeface="Aptos Bold"/>
                <a:ea typeface="Aptos Bold"/>
                <a:cs typeface="Aptos Bold"/>
                <a:sym typeface="Aptos Bold"/>
              </a:rPr>
              <a:t>MAP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799250" y="5238598"/>
            <a:ext cx="4726686" cy="1139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C303E"/>
                </a:solidFill>
                <a:latin typeface="Aptos"/>
                <a:ea typeface="Aptos"/>
                <a:cs typeface="Aptos"/>
                <a:sym typeface="Aptos"/>
              </a:rPr>
              <a:t>Adds geographic context to country performance.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141003" y="4454033"/>
            <a:ext cx="5299091" cy="2141944"/>
            <a:chOff x="0" y="0"/>
            <a:chExt cx="7065454" cy="285592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065390" cy="2855976"/>
            </a:xfrm>
            <a:custGeom>
              <a:avLst/>
              <a:gdLst/>
              <a:ahLst/>
              <a:cxnLst/>
              <a:rect r="r" b="b" t="t" l="l"/>
              <a:pathLst>
                <a:path h="2855976" w="7065390">
                  <a:moveTo>
                    <a:pt x="0" y="475996"/>
                  </a:moveTo>
                  <a:cubicBezTo>
                    <a:pt x="0" y="213106"/>
                    <a:pt x="213106" y="0"/>
                    <a:pt x="475996" y="0"/>
                  </a:cubicBezTo>
                  <a:lnTo>
                    <a:pt x="6589395" y="0"/>
                  </a:lnTo>
                  <a:cubicBezTo>
                    <a:pt x="6852285" y="0"/>
                    <a:pt x="7065390" y="213106"/>
                    <a:pt x="7065390" y="475996"/>
                  </a:cubicBezTo>
                  <a:lnTo>
                    <a:pt x="7065390" y="2379980"/>
                  </a:lnTo>
                  <a:cubicBezTo>
                    <a:pt x="7065390" y="2642870"/>
                    <a:pt x="6852285" y="2855976"/>
                    <a:pt x="6589395" y="2855976"/>
                  </a:cubicBezTo>
                  <a:lnTo>
                    <a:pt x="475996" y="2855976"/>
                  </a:lnTo>
                  <a:cubicBezTo>
                    <a:pt x="213106" y="2855976"/>
                    <a:pt x="0" y="2642870"/>
                    <a:pt x="0" y="23799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CAE0E0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12427201" y="4699054"/>
            <a:ext cx="4726686" cy="334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47D87"/>
                </a:solidFill>
                <a:latin typeface="Aptos Bold"/>
                <a:ea typeface="Aptos Bold"/>
                <a:cs typeface="Aptos Bold"/>
                <a:sym typeface="Aptos Bold"/>
              </a:rPr>
              <a:t>COUNTRY MATRIX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427201" y="5238598"/>
            <a:ext cx="4726686" cy="1139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C303E"/>
                </a:solidFill>
                <a:latin typeface="Aptos"/>
                <a:ea typeface="Aptos"/>
                <a:cs typeface="Aptos"/>
                <a:sym typeface="Aptos"/>
              </a:rPr>
              <a:t>Shows detailed country-level measures for comparison.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39926" y="7554220"/>
            <a:ext cx="15913960" cy="745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5A6971"/>
                </a:solidFill>
                <a:latin typeface="Aptos"/>
                <a:ea typeface="Aptos"/>
                <a:cs typeface="Aptos"/>
                <a:sym typeface="Aptos"/>
              </a:rPr>
              <a:t>Screenshot space: replace or supplement these cards with screenshots from your final Power BI report. Use one screenshot per visual group and add a short caption describing the question answered.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8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64725"/>
            <a:chOff x="0" y="0"/>
            <a:chExt cx="24402453" cy="2196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19583"/>
            </a:xfrm>
            <a:custGeom>
              <a:avLst/>
              <a:gdLst/>
              <a:ahLst/>
              <a:cxnLst/>
              <a:rect r="r" b="b" t="t" l="l"/>
              <a:pathLst>
                <a:path h="219583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147D87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28123" y="484956"/>
            <a:ext cx="16600303" cy="608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C303E"/>
                </a:solidFill>
                <a:latin typeface="Aptos Bold"/>
                <a:ea typeface="Aptos Bold"/>
                <a:cs typeface="Aptos Bold"/>
                <a:sym typeface="Aptos Bold"/>
              </a:rPr>
              <a:t>Key Findings &amp; Limitations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69299" y="1281103"/>
            <a:ext cx="16325764" cy="334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5A6971"/>
                </a:solidFill>
                <a:latin typeface="Aptos"/>
                <a:ea typeface="Aptos"/>
                <a:cs typeface="Aptos"/>
                <a:sym typeface="Aptos"/>
              </a:rPr>
              <a:t>How to interpret the results responsibly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85092" y="1983229"/>
            <a:ext cx="8044434" cy="2210572"/>
            <a:chOff x="0" y="0"/>
            <a:chExt cx="10725912" cy="29474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725912" cy="2947416"/>
            </a:xfrm>
            <a:custGeom>
              <a:avLst/>
              <a:gdLst/>
              <a:ahLst/>
              <a:cxnLst/>
              <a:rect r="r" b="b" t="t" l="l"/>
              <a:pathLst>
                <a:path h="2947416" w="10725912">
                  <a:moveTo>
                    <a:pt x="0" y="491236"/>
                  </a:moveTo>
                  <a:cubicBezTo>
                    <a:pt x="0" y="219964"/>
                    <a:pt x="219964" y="0"/>
                    <a:pt x="491236" y="0"/>
                  </a:cubicBezTo>
                  <a:lnTo>
                    <a:pt x="10234676" y="0"/>
                  </a:lnTo>
                  <a:cubicBezTo>
                    <a:pt x="10505948" y="0"/>
                    <a:pt x="10725912" y="219964"/>
                    <a:pt x="10725912" y="491236"/>
                  </a:cubicBezTo>
                  <a:lnTo>
                    <a:pt x="10725912" y="2456180"/>
                  </a:lnTo>
                  <a:cubicBezTo>
                    <a:pt x="10725912" y="2727452"/>
                    <a:pt x="10505948" y="2947416"/>
                    <a:pt x="10234676" y="2947416"/>
                  </a:cubicBezTo>
                  <a:lnTo>
                    <a:pt x="491236" y="2947416"/>
                  </a:lnTo>
                  <a:cubicBezTo>
                    <a:pt x="219964" y="2947416"/>
                    <a:pt x="0" y="2727452"/>
                    <a:pt x="0" y="24561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CAE0E0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171289" y="2228250"/>
            <a:ext cx="7472029" cy="334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47D87"/>
                </a:solidFill>
                <a:latin typeface="Aptos Bold"/>
                <a:ea typeface="Aptos Bold"/>
                <a:cs typeface="Aptos Bold"/>
                <a:sym typeface="Aptos Bold"/>
              </a:rPr>
              <a:t>SALES VS CUSTOMER REVENUE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1289" y="2767794"/>
            <a:ext cx="7472029" cy="120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C303E"/>
                </a:solidFill>
                <a:latin typeface="Aptos"/>
                <a:ea typeface="Aptos"/>
                <a:cs typeface="Aptos"/>
                <a:sym typeface="Aptos"/>
              </a:rPr>
              <a:t>Overall sales revenue is 20,476,260.45; customer-known revenue is 17,374,804.27 because rows without Customer ID are excluded from customer analysis.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327023" y="1983229"/>
            <a:ext cx="8044434" cy="2210572"/>
            <a:chOff x="0" y="0"/>
            <a:chExt cx="10725912" cy="29474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25912" cy="2947416"/>
            </a:xfrm>
            <a:custGeom>
              <a:avLst/>
              <a:gdLst/>
              <a:ahLst/>
              <a:cxnLst/>
              <a:rect r="r" b="b" t="t" l="l"/>
              <a:pathLst>
                <a:path h="2947416" w="10725912">
                  <a:moveTo>
                    <a:pt x="0" y="491236"/>
                  </a:moveTo>
                  <a:cubicBezTo>
                    <a:pt x="0" y="219964"/>
                    <a:pt x="219964" y="0"/>
                    <a:pt x="491236" y="0"/>
                  </a:cubicBezTo>
                  <a:lnTo>
                    <a:pt x="10234676" y="0"/>
                  </a:lnTo>
                  <a:cubicBezTo>
                    <a:pt x="10505948" y="0"/>
                    <a:pt x="10725912" y="219964"/>
                    <a:pt x="10725912" y="491236"/>
                  </a:cubicBezTo>
                  <a:lnTo>
                    <a:pt x="10725912" y="2456180"/>
                  </a:lnTo>
                  <a:cubicBezTo>
                    <a:pt x="10725912" y="2727452"/>
                    <a:pt x="10505948" y="2947416"/>
                    <a:pt x="10234676" y="2947416"/>
                  </a:cubicBezTo>
                  <a:lnTo>
                    <a:pt x="491236" y="2947416"/>
                  </a:lnTo>
                  <a:cubicBezTo>
                    <a:pt x="219964" y="2947416"/>
                    <a:pt x="0" y="2727452"/>
                    <a:pt x="0" y="24561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CAE0E0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613221" y="2228250"/>
            <a:ext cx="7472029" cy="334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47D87"/>
                </a:solidFill>
                <a:latin typeface="Aptos Bold"/>
                <a:ea typeface="Aptos Bold"/>
                <a:cs typeface="Aptos Bold"/>
                <a:sym typeface="Aptos Bold"/>
              </a:rPr>
              <a:t>UNUSUAL TRANSACTION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13221" y="2767794"/>
            <a:ext cx="7472029" cy="1208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1C303E"/>
                </a:solidFill>
                <a:latin typeface="Aptos"/>
                <a:ea typeface="Aptos"/>
                <a:cs typeface="Aptos"/>
                <a:sym typeface="Aptos"/>
              </a:rPr>
              <a:t>PAPER CRAFT, LITTLE BIRDIE: quantity 80,995 and revenue 168,469.60. Flagged for validation, not confirmed as an error.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6502" y="5083407"/>
            <a:ext cx="15859096" cy="3106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C303E"/>
                </a:solidFill>
                <a:latin typeface="Aptos"/>
                <a:ea typeface="Aptos"/>
                <a:cs typeface="Aptos"/>
                <a:sym typeface="Aptos"/>
              </a:rPr>
              <a:t>Customer ID is missing in many transaction rows; sales and customer metrics therefore use different populations.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C303E"/>
                </a:solidFill>
                <a:latin typeface="Aptos"/>
                <a:ea typeface="Aptos"/>
                <a:cs typeface="Aptos"/>
                <a:sym typeface="Aptos"/>
              </a:rPr>
              <a:t>2009 and 2011 are partial years, so annual comparisons are not full-year comparisons.</a:t>
            </a:r>
          </a:p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C303E"/>
                </a:solidFill>
                <a:latin typeface="Aptos"/>
                <a:ea typeface="Aptos"/>
                <a:cs typeface="Aptos"/>
                <a:sym typeface="Aptos"/>
              </a:rPr>
              <a:t>Country slicer filters the country matrix, ranking, and map; the pre-aggregated monthly trend remains overall.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B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64725"/>
            <a:chOff x="0" y="0"/>
            <a:chExt cx="24402453" cy="2196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19583"/>
            </a:xfrm>
            <a:custGeom>
              <a:avLst/>
              <a:gdLst/>
              <a:ahLst/>
              <a:cxnLst/>
              <a:rect r="r" b="b" t="t" l="l"/>
              <a:pathLst>
                <a:path h="219583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147D87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28123" y="484956"/>
            <a:ext cx="16600303" cy="608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 b="true">
                <a:solidFill>
                  <a:srgbClr val="1C303E"/>
                </a:solidFill>
                <a:latin typeface="Aptos Bold"/>
                <a:ea typeface="Aptos Bold"/>
                <a:cs typeface="Aptos Bold"/>
                <a:sym typeface="Aptos Bold"/>
              </a:rPr>
              <a:t>Conclusion &amp; Next Steps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69299" y="1281103"/>
            <a:ext cx="16325764" cy="334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5A6971"/>
                </a:solidFill>
                <a:latin typeface="Aptos"/>
                <a:ea typeface="Aptos"/>
                <a:cs typeface="Aptos"/>
                <a:sym typeface="Aptos"/>
              </a:rPr>
              <a:t>From transaction data to an interactive report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85092" y="1983229"/>
            <a:ext cx="7975797" cy="2279209"/>
            <a:chOff x="0" y="0"/>
            <a:chExt cx="10634396" cy="303894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634345" cy="3038856"/>
            </a:xfrm>
            <a:custGeom>
              <a:avLst/>
              <a:gdLst/>
              <a:ahLst/>
              <a:cxnLst/>
              <a:rect r="r" b="b" t="t" l="l"/>
              <a:pathLst>
                <a:path h="3038856" w="10634345">
                  <a:moveTo>
                    <a:pt x="0" y="506476"/>
                  </a:moveTo>
                  <a:cubicBezTo>
                    <a:pt x="0" y="226822"/>
                    <a:pt x="226822" y="0"/>
                    <a:pt x="506476" y="0"/>
                  </a:cubicBezTo>
                  <a:lnTo>
                    <a:pt x="10127869" y="0"/>
                  </a:lnTo>
                  <a:cubicBezTo>
                    <a:pt x="10407650" y="0"/>
                    <a:pt x="10634345" y="226822"/>
                    <a:pt x="10634345" y="506476"/>
                  </a:cubicBezTo>
                  <a:lnTo>
                    <a:pt x="10634345" y="2532380"/>
                  </a:lnTo>
                  <a:cubicBezTo>
                    <a:pt x="10634345" y="2812161"/>
                    <a:pt x="10407523" y="3038856"/>
                    <a:pt x="10127869" y="3038856"/>
                  </a:cubicBezTo>
                  <a:lnTo>
                    <a:pt x="506476" y="3038856"/>
                  </a:lnTo>
                  <a:cubicBezTo>
                    <a:pt x="226822" y="3038983"/>
                    <a:pt x="0" y="2812161"/>
                    <a:pt x="0" y="25323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CAE0E0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171289" y="2228250"/>
            <a:ext cx="7403392" cy="334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47D87"/>
                </a:solidFill>
                <a:latin typeface="Aptos Bold"/>
                <a:ea typeface="Aptos Bold"/>
                <a:cs typeface="Aptos Bold"/>
                <a:sym typeface="Aptos Bold"/>
              </a:rPr>
              <a:t>WHAT I LEARNED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1289" y="2777319"/>
            <a:ext cx="7403392" cy="126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C303E"/>
                </a:solidFill>
                <a:latin typeface="Aptos"/>
                <a:ea typeface="Aptos"/>
                <a:cs typeface="Aptos"/>
                <a:sym typeface="Aptos"/>
              </a:rPr>
              <a:t>Data inspection, cleaning, deduplication, filtering, aggregation, customer analysis, KPI definitions, and dashboard design.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258386" y="1983229"/>
            <a:ext cx="8113062" cy="2279209"/>
            <a:chOff x="0" y="0"/>
            <a:chExt cx="10817416" cy="303894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817352" cy="3038856"/>
            </a:xfrm>
            <a:custGeom>
              <a:avLst/>
              <a:gdLst/>
              <a:ahLst/>
              <a:cxnLst/>
              <a:rect r="r" b="b" t="t" l="l"/>
              <a:pathLst>
                <a:path h="3038856" w="10817352">
                  <a:moveTo>
                    <a:pt x="0" y="506476"/>
                  </a:moveTo>
                  <a:cubicBezTo>
                    <a:pt x="0" y="226822"/>
                    <a:pt x="226822" y="0"/>
                    <a:pt x="506476" y="0"/>
                  </a:cubicBezTo>
                  <a:lnTo>
                    <a:pt x="10310876" y="0"/>
                  </a:lnTo>
                  <a:cubicBezTo>
                    <a:pt x="10590657" y="0"/>
                    <a:pt x="10817352" y="226822"/>
                    <a:pt x="10817352" y="506476"/>
                  </a:cubicBezTo>
                  <a:lnTo>
                    <a:pt x="10817352" y="2532380"/>
                  </a:lnTo>
                  <a:cubicBezTo>
                    <a:pt x="10817352" y="2812161"/>
                    <a:pt x="10590530" y="3038856"/>
                    <a:pt x="10310876" y="3038856"/>
                  </a:cubicBezTo>
                  <a:lnTo>
                    <a:pt x="506476" y="3038856"/>
                  </a:lnTo>
                  <a:cubicBezTo>
                    <a:pt x="226822" y="3038983"/>
                    <a:pt x="0" y="2812161"/>
                    <a:pt x="0" y="25323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CAE0E0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544593" y="2228250"/>
            <a:ext cx="7540657" cy="334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147D87"/>
                </a:solidFill>
                <a:latin typeface="Aptos Bold"/>
                <a:ea typeface="Aptos Bold"/>
                <a:cs typeface="Aptos Bold"/>
                <a:sym typeface="Aptos Bold"/>
              </a:rPr>
              <a:t>NEXT STEPS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44593" y="2777319"/>
            <a:ext cx="7540657" cy="126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1C303E"/>
                </a:solidFill>
                <a:latin typeface="Aptos"/>
                <a:ea typeface="Aptos"/>
                <a:cs typeface="Aptos"/>
                <a:sym typeface="Aptos"/>
              </a:rPr>
              <a:t>Validate unusual transactions, confirm currency assumptions, improve tooltips, and add country-by-month detail if required.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84793" y="4586287"/>
            <a:ext cx="7782287" cy="4118468"/>
            <a:chOff x="0" y="0"/>
            <a:chExt cx="10376383" cy="54912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376408" cy="5491290"/>
            </a:xfrm>
            <a:custGeom>
              <a:avLst/>
              <a:gdLst/>
              <a:ahLst/>
              <a:cxnLst/>
              <a:rect r="r" b="b" t="t" l="l"/>
              <a:pathLst>
                <a:path h="5491290" w="10376408">
                  <a:moveTo>
                    <a:pt x="0" y="915244"/>
                  </a:moveTo>
                  <a:cubicBezTo>
                    <a:pt x="0" y="409808"/>
                    <a:pt x="303149" y="0"/>
                    <a:pt x="677037" y="0"/>
                  </a:cubicBezTo>
                  <a:lnTo>
                    <a:pt x="9699371" y="0"/>
                  </a:lnTo>
                  <a:cubicBezTo>
                    <a:pt x="10073259" y="0"/>
                    <a:pt x="10376408" y="409808"/>
                    <a:pt x="10376408" y="915244"/>
                  </a:cubicBezTo>
                  <a:lnTo>
                    <a:pt x="10376408" y="4576047"/>
                  </a:lnTo>
                  <a:cubicBezTo>
                    <a:pt x="10376408" y="5081482"/>
                    <a:pt x="10073259" y="5491290"/>
                    <a:pt x="9699371" y="5491290"/>
                  </a:cubicBezTo>
                  <a:lnTo>
                    <a:pt x="677037" y="5491290"/>
                  </a:lnTo>
                  <a:cubicBezTo>
                    <a:pt x="303149" y="5491290"/>
                    <a:pt x="0" y="5081482"/>
                    <a:pt x="0" y="4576047"/>
                  </a:cubicBezTo>
                  <a:close/>
                </a:path>
              </a:pathLst>
            </a:custGeom>
            <a:blipFill>
              <a:blip r:embed="rId2"/>
              <a:stretch>
                <a:fillRect l="0" t="-1964" r="0" b="-1964"/>
              </a:stretch>
            </a:blipFill>
            <a:ln w="26691" cap="sq">
              <a:solidFill>
                <a:srgbClr val="ADD8D8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389459" y="4633913"/>
            <a:ext cx="7782287" cy="4070843"/>
            <a:chOff x="0" y="0"/>
            <a:chExt cx="10376383" cy="54277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376408" cy="5427790"/>
            </a:xfrm>
            <a:custGeom>
              <a:avLst/>
              <a:gdLst/>
              <a:ahLst/>
              <a:cxnLst/>
              <a:rect r="r" b="b" t="t" l="l"/>
              <a:pathLst>
                <a:path h="5427790" w="10376408">
                  <a:moveTo>
                    <a:pt x="0" y="904660"/>
                  </a:moveTo>
                  <a:cubicBezTo>
                    <a:pt x="0" y="405069"/>
                    <a:pt x="303149" y="0"/>
                    <a:pt x="677037" y="0"/>
                  </a:cubicBezTo>
                  <a:lnTo>
                    <a:pt x="9699371" y="0"/>
                  </a:lnTo>
                  <a:cubicBezTo>
                    <a:pt x="10073259" y="0"/>
                    <a:pt x="10376408" y="405069"/>
                    <a:pt x="10376408" y="904660"/>
                  </a:cubicBezTo>
                  <a:lnTo>
                    <a:pt x="10376408" y="4523131"/>
                  </a:lnTo>
                  <a:cubicBezTo>
                    <a:pt x="10376408" y="5022721"/>
                    <a:pt x="10073259" y="5427790"/>
                    <a:pt x="9699371" y="5427790"/>
                  </a:cubicBezTo>
                  <a:lnTo>
                    <a:pt x="677037" y="5427790"/>
                  </a:lnTo>
                  <a:cubicBezTo>
                    <a:pt x="303149" y="5427790"/>
                    <a:pt x="0" y="5022721"/>
                    <a:pt x="0" y="4523131"/>
                  </a:cubicBezTo>
                  <a:close/>
                </a:path>
              </a:pathLst>
            </a:custGeom>
            <a:blipFill>
              <a:blip r:embed="rId3"/>
              <a:stretch>
                <a:fillRect l="-4949" t="0" r="-4949" b="-29208"/>
              </a:stretch>
            </a:blipFill>
            <a:ln w="26691" cap="sq">
              <a:solidFill>
                <a:srgbClr val="ADD8D8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257786" y="8855535"/>
            <a:ext cx="15913960" cy="402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true">
                <a:solidFill>
                  <a:srgbClr val="147D87"/>
                </a:solidFill>
                <a:latin typeface="Aptos Bold"/>
                <a:ea typeface="Aptos Bold"/>
                <a:cs typeface="Aptos Bold"/>
                <a:sym typeface="Aptos Bold"/>
              </a:rPr>
              <a:t>Thank you • Nitu Singh • Shadow Fox Intermediate Data Analytics • October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DAHZY_h03hQ</dc:identifier>
  <dcterms:modified xsi:type="dcterms:W3CDTF">2011-08-01T06:04:30Z</dcterms:modified>
  <cp:revision>1</cp:revision>
  <dc:title>ShadowFox_Intermediate_Online_Retail_II_Presentation.pptx</dc:title>
</cp:coreProperties>
</file>