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Canva Sans Bold Italics" panose="020B0604020202020204" charset="0"/>
      <p:regular r:id="rId18"/>
    </p:embeddedFont>
    <p:embeddedFont>
      <p:font typeface="Canva Sans Medium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id="3" name="Freeform 3"/>
            <p:cNvSpPr/>
            <p:nvPr/>
          </p:nvSpPr>
          <p:spPr>
            <a:xfrm flipV="1">
              <a:off x="10693806" y="89086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V="1">
              <a:off x="21387611" y="0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25614703" y="9670425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14920898" y="10561294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V="1">
              <a:off x="0" y="178173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4227092" y="11452163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328767" y="164442"/>
            <a:ext cx="17630466" cy="9566473"/>
            <a:chOff x="0" y="0"/>
            <a:chExt cx="23507288" cy="1275529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id="35" name="Group 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5715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969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5715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969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5715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969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-1957407" y="-931287"/>
            <a:ext cx="7442351" cy="7080653"/>
            <a:chOff x="0" y="0"/>
            <a:chExt cx="9923135" cy="9440871"/>
          </a:xfrm>
        </p:grpSpPr>
        <p:grpSp>
          <p:nvGrpSpPr>
            <p:cNvPr id="54" name="Group 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5715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969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5715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969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5715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969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lIns="52956" tIns="52956" rIns="52956" bIns="52956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72" name="TextBox 72"/>
          <p:cNvSpPr txBox="1"/>
          <p:nvPr/>
        </p:nvSpPr>
        <p:spPr>
          <a:xfrm>
            <a:off x="2622470" y="1622139"/>
            <a:ext cx="13043060" cy="1384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SUPERSTORE SALES PERFORMANCE ANALYSIS</a:t>
            </a:r>
          </a:p>
          <a:p>
            <a:pPr algn="ctr">
              <a:lnSpc>
                <a:spcPts val="5193"/>
              </a:lnSpc>
            </a:pPr>
            <a:endParaRPr lang="en-US" sz="4248" b="1">
              <a:solidFill>
                <a:srgbClr val="3E526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2977177" y="2551890"/>
            <a:ext cx="12333647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88A5C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Beginner-Level Data Analytics Internship Project</a:t>
            </a:r>
          </a:p>
          <a:p>
            <a:pPr algn="ctr">
              <a:lnSpc>
                <a:spcPts val="4899"/>
              </a:lnSpc>
            </a:pPr>
            <a:endParaRPr lang="en-US" sz="3499" b="1">
              <a:solidFill>
                <a:srgbClr val="88A5C4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2622470" y="3710766"/>
            <a:ext cx="8014952" cy="3489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025" lvl="1" indent="-267013" algn="l">
              <a:lnSpc>
                <a:spcPts val="3462"/>
              </a:lnSpc>
              <a:buFont typeface="Arial"/>
              <a:buChar char="•"/>
            </a:pPr>
            <a:r>
              <a:rPr lang="en-US" sz="2473" b="1">
                <a:solidFill>
                  <a:srgbClr val="17415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Submitted by: Nitu Singh</a:t>
            </a:r>
          </a:p>
          <a:p>
            <a:pPr marL="534025" lvl="1" indent="-267013" algn="l">
              <a:lnSpc>
                <a:spcPts val="3462"/>
              </a:lnSpc>
              <a:buFont typeface="Arial"/>
              <a:buChar char="•"/>
            </a:pPr>
            <a:r>
              <a:rPr lang="en-US" sz="2473" b="1">
                <a:solidFill>
                  <a:srgbClr val="17415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College: Siddhartha Women's Degree College</a:t>
            </a:r>
          </a:p>
          <a:p>
            <a:pPr marL="534025" lvl="1" indent="-267013" algn="l">
              <a:lnSpc>
                <a:spcPts val="3462"/>
              </a:lnSpc>
              <a:buFont typeface="Arial"/>
              <a:buChar char="•"/>
            </a:pPr>
            <a:r>
              <a:rPr lang="en-US" sz="2473" b="1">
                <a:solidFill>
                  <a:srgbClr val="17415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University: Osmania University</a:t>
            </a:r>
          </a:p>
          <a:p>
            <a:pPr marL="534025" lvl="1" indent="-267013" algn="l">
              <a:lnSpc>
                <a:spcPts val="3462"/>
              </a:lnSpc>
              <a:buFont typeface="Arial"/>
              <a:buChar char="•"/>
            </a:pPr>
            <a:r>
              <a:rPr lang="en-US" sz="2473" b="1">
                <a:solidFill>
                  <a:srgbClr val="17415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Company: ShadowFox</a:t>
            </a:r>
          </a:p>
          <a:p>
            <a:pPr marL="534025" lvl="1" indent="-267013" algn="l">
              <a:lnSpc>
                <a:spcPts val="3462"/>
              </a:lnSpc>
              <a:buFont typeface="Arial"/>
              <a:buChar char="•"/>
            </a:pPr>
            <a:r>
              <a:rPr lang="en-US" sz="2473" b="1">
                <a:solidFill>
                  <a:srgbClr val="17415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Role: Data Analyst Intern</a:t>
            </a:r>
          </a:p>
          <a:p>
            <a:pPr marL="534025" lvl="1" indent="-267013" algn="l">
              <a:lnSpc>
                <a:spcPts val="3462"/>
              </a:lnSpc>
              <a:buFont typeface="Arial"/>
              <a:buChar char="•"/>
            </a:pPr>
            <a:r>
              <a:rPr lang="en-US" sz="2473" b="1">
                <a:solidFill>
                  <a:srgbClr val="17415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Internship Duration: 1st october-31st october</a:t>
            </a:r>
          </a:p>
          <a:p>
            <a:pPr marL="534025" lvl="1" indent="-267013" algn="l">
              <a:lnSpc>
                <a:spcPts val="3462"/>
              </a:lnSpc>
              <a:buFont typeface="Arial"/>
              <a:buChar char="•"/>
            </a:pPr>
            <a:r>
              <a:rPr lang="en-US" sz="2473" b="1">
                <a:solidFill>
                  <a:srgbClr val="17415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Mentor/Coordinator: Mr.Aakash</a:t>
            </a:r>
          </a:p>
          <a:p>
            <a:pPr algn="l">
              <a:lnSpc>
                <a:spcPts val="3462"/>
              </a:lnSpc>
            </a:pPr>
            <a:endParaRPr lang="en-US" sz="2473" b="1">
              <a:solidFill>
                <a:srgbClr val="17415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3080225" y="7134089"/>
            <a:ext cx="12127550" cy="1805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8"/>
              </a:lnSpc>
            </a:pPr>
            <a:r>
              <a:rPr lang="en-US" sz="3441" b="1">
                <a:solidFill>
                  <a:srgbClr val="88A5C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Tools Used: Microsoft Excel, PivotTables, PivotCharts, KPI Analysis and Interactive Dashboard</a:t>
            </a:r>
          </a:p>
          <a:p>
            <a:pPr algn="ctr">
              <a:lnSpc>
                <a:spcPts val="4818"/>
              </a:lnSpc>
            </a:pPr>
            <a:endParaRPr lang="en-US" sz="3441" b="1">
              <a:solidFill>
                <a:srgbClr val="88A5C4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id="3" name="Freeform 3"/>
            <p:cNvSpPr/>
            <p:nvPr/>
          </p:nvSpPr>
          <p:spPr>
            <a:xfrm flipV="1">
              <a:off x="10693806" y="89086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V="1">
              <a:off x="21387611" y="0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25614703" y="9670425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14920898" y="10561294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V="1">
              <a:off x="0" y="178173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4227092" y="11452163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2914202" y="2009775"/>
            <a:ext cx="12459596" cy="313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ACKNOWLEDGEMENT</a:t>
            </a:r>
          </a:p>
          <a:p>
            <a:pPr algn="ctr">
              <a:lnSpc>
                <a:spcPts val="12599"/>
              </a:lnSpc>
            </a:pPr>
            <a:endParaRPr lang="en-US" sz="9000" b="1">
              <a:solidFill>
                <a:srgbClr val="3E526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330131" y="3649576"/>
            <a:ext cx="13627739" cy="456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7087" lvl="1" indent="-278543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I would like to express my sincere gratitude to ShadowFox for providing me with the opportunity to work on this beginner-level data analytics project.</a:t>
            </a:r>
          </a:p>
          <a:p>
            <a:pPr marL="557087" lvl="1" indent="-278543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I extend my thanks to my mentor and coordinators, including Mr. Aakash, for their guidance and support throughout this learning experience.</a:t>
            </a:r>
          </a:p>
          <a:p>
            <a:pPr marL="557087" lvl="1" indent="-278543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This project was completed through my own practical work and analysis, with the help of relevant reference materials and ChatGPT for generating ideas and clarifying concepts.</a:t>
            </a:r>
          </a:p>
          <a:p>
            <a:pPr marL="557087" lvl="1" indent="-278543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This experience helped me understand how data analysis and visualization can transform raw business data into meaningful insights.</a:t>
            </a:r>
          </a:p>
          <a:p>
            <a:pPr algn="ctr">
              <a:lnSpc>
                <a:spcPts val="3612"/>
              </a:lnSpc>
            </a:pPr>
            <a:endParaRPr lang="en-US" sz="2580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id="37" name="Group 37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id="47" name="Group 47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id="3" name="Freeform 3"/>
            <p:cNvSpPr/>
            <p:nvPr/>
          </p:nvSpPr>
          <p:spPr>
            <a:xfrm flipV="1">
              <a:off x="10693806" y="89086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V="1">
              <a:off x="21387611" y="0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25614703" y="9670425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14920898" y="10561294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V="1">
              <a:off x="0" y="178173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4227092" y="11452163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3824000" y="1247387"/>
            <a:ext cx="10639999" cy="747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8"/>
              </a:lnSpc>
            </a:pPr>
            <a:r>
              <a:rPr lang="en-US" sz="4341" b="1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BEGINNER LEVEL: PROJECT OVERVIEW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74365" y="2575951"/>
            <a:ext cx="14339271" cy="5927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87"/>
              </a:lnSpc>
            </a:pPr>
            <a:r>
              <a:rPr lang="en-US" sz="2133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</a:p>
          <a:p>
            <a:pPr algn="just">
              <a:lnSpc>
                <a:spcPts val="2987"/>
              </a:lnSpc>
            </a:pPr>
            <a:r>
              <a:rPr lang="en-US" sz="213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To analyze retail sales data, understand business performance, identify profitability patterns, and present useful insights through an interactive Excel dashboard.</a:t>
            </a:r>
          </a:p>
          <a:p>
            <a:pPr algn="just">
              <a:lnSpc>
                <a:spcPts val="2987"/>
              </a:lnSpc>
            </a:pPr>
            <a:r>
              <a:rPr lang="en-US" sz="2133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Overview</a:t>
            </a:r>
          </a:p>
          <a:p>
            <a:pPr marL="460712" lvl="1" indent="-230356" algn="just">
              <a:lnSpc>
                <a:spcPts val="2987"/>
              </a:lnSpc>
              <a:buFont typeface="Arial"/>
              <a:buChar char="•"/>
            </a:pPr>
            <a:r>
              <a:rPr lang="en-US" sz="213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Approximately 51,290 transaction records across 21 columns.</a:t>
            </a:r>
          </a:p>
          <a:p>
            <a:pPr marL="460712" lvl="1" indent="-230356" algn="just">
              <a:lnSpc>
                <a:spcPts val="2987"/>
              </a:lnSpc>
              <a:buFont typeface="Arial"/>
              <a:buChar char="•"/>
            </a:pPr>
            <a:r>
              <a:rPr lang="en-US" sz="213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Data period: 2011–2014.</a:t>
            </a:r>
          </a:p>
          <a:p>
            <a:pPr marL="460712" lvl="1" indent="-230356" algn="just">
              <a:lnSpc>
                <a:spcPts val="2987"/>
              </a:lnSpc>
              <a:buFont typeface="Arial"/>
              <a:buChar char="•"/>
            </a:pPr>
            <a:r>
              <a:rPr lang="en-US" sz="213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Key fields: Sales, Profit, Quantity, Discount, Shipping Cost, Category, Subcategory, Region, Market, Customer Segment, and Order Date.</a:t>
            </a:r>
          </a:p>
          <a:p>
            <a:pPr algn="just">
              <a:lnSpc>
                <a:spcPts val="2987"/>
              </a:lnSpc>
            </a:pPr>
            <a:r>
              <a:rPr lang="en-US" sz="2133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Tasks Performed</a:t>
            </a:r>
          </a:p>
          <a:p>
            <a:pPr marL="460712" lvl="1" indent="-230356" algn="just">
              <a:lnSpc>
                <a:spcPts val="2987"/>
              </a:lnSpc>
              <a:buFont typeface="Arial"/>
              <a:buChar char="•"/>
            </a:pPr>
            <a:r>
              <a:rPr lang="en-US" sz="213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Reviewed the dataset and checked for duplicate records and obvious data-quality issues.</a:t>
            </a:r>
          </a:p>
          <a:p>
            <a:pPr marL="460712" lvl="1" indent="-230356" algn="just">
              <a:lnSpc>
                <a:spcPts val="2987"/>
              </a:lnSpc>
              <a:buFont typeface="Arial"/>
              <a:buChar char="•"/>
            </a:pPr>
            <a:r>
              <a:rPr lang="en-US" sz="213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Created KPI calculations and PivotTables.</a:t>
            </a:r>
          </a:p>
          <a:p>
            <a:pPr marL="460712" lvl="1" indent="-230356" algn="just">
              <a:lnSpc>
                <a:spcPts val="2987"/>
              </a:lnSpc>
              <a:buFont typeface="Arial"/>
              <a:buChar char="•"/>
            </a:pPr>
            <a:r>
              <a:rPr lang="en-US" sz="213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Analyzed sales and profit across different business dimensions.</a:t>
            </a:r>
          </a:p>
          <a:p>
            <a:pPr marL="460712" lvl="1" indent="-230356" algn="just">
              <a:lnSpc>
                <a:spcPts val="2987"/>
              </a:lnSpc>
              <a:buFont typeface="Arial"/>
              <a:buChar char="•"/>
            </a:pPr>
            <a:r>
              <a:rPr lang="en-US" sz="213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Created PivotCharts and an interactive Year slicer.</a:t>
            </a:r>
          </a:p>
          <a:p>
            <a:pPr marL="460712" lvl="1" indent="-230356" algn="just">
              <a:lnSpc>
                <a:spcPts val="2987"/>
              </a:lnSpc>
              <a:buFont typeface="Arial"/>
              <a:buChar char="•"/>
            </a:pPr>
            <a:r>
              <a:rPr lang="en-US" sz="213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Developed an Excel dashboard and prepared business recommendations.</a:t>
            </a:r>
          </a:p>
          <a:p>
            <a:pPr algn="just">
              <a:lnSpc>
                <a:spcPts val="2987"/>
              </a:lnSpc>
            </a:pPr>
            <a:r>
              <a:rPr lang="en-US" sz="2133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Tools:</a:t>
            </a:r>
            <a:r>
              <a:rPr lang="en-US" sz="213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Microsoft Excel, PivotTables, PivotCharts, formulas and charts.</a:t>
            </a:r>
          </a:p>
          <a:p>
            <a:pPr algn="just">
              <a:lnSpc>
                <a:spcPts val="2987"/>
              </a:lnSpc>
            </a:pPr>
            <a:endParaRPr lang="en-US" sz="2133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id="37" name="Group 37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id="47" name="Group 47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56" name="TextBox 56"/>
          <p:cNvSpPr txBox="1"/>
          <p:nvPr/>
        </p:nvSpPr>
        <p:spPr>
          <a:xfrm>
            <a:off x="1974365" y="2191102"/>
            <a:ext cx="11746043" cy="42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025" lvl="1" indent="-267013" algn="l">
              <a:lnSpc>
                <a:spcPts val="3462"/>
              </a:lnSpc>
              <a:buFont typeface="Arial"/>
              <a:buChar char="•"/>
            </a:pPr>
            <a:r>
              <a:rPr lang="en-US" sz="2473" b="1">
                <a:solidFill>
                  <a:srgbClr val="17415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Task: Superstore Sales Performance Analysis Using Microsoft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id="3" name="Freeform 3"/>
            <p:cNvSpPr/>
            <p:nvPr/>
          </p:nvSpPr>
          <p:spPr>
            <a:xfrm flipV="1">
              <a:off x="10693806" y="89086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V="1">
              <a:off x="21387611" y="0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25614703" y="9670425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14920898" y="10561294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V="1">
              <a:off x="0" y="178173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4227092" y="11452163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id="35" name="Group 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id="45" name="Group 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54" name="Freeform 54"/>
          <p:cNvSpPr/>
          <p:nvPr/>
        </p:nvSpPr>
        <p:spPr>
          <a:xfrm>
            <a:off x="3180641" y="7171689"/>
            <a:ext cx="11926717" cy="1458725"/>
          </a:xfrm>
          <a:custGeom>
            <a:avLst/>
            <a:gdLst/>
            <a:ahLst/>
            <a:cxnLst/>
            <a:rect l="l" t="t" r="r" b="b"/>
            <a:pathLst>
              <a:path w="11926717" h="1458725">
                <a:moveTo>
                  <a:pt x="0" y="0"/>
                </a:moveTo>
                <a:lnTo>
                  <a:pt x="11926718" y="0"/>
                </a:lnTo>
                <a:lnTo>
                  <a:pt x="11926718" y="1458725"/>
                </a:lnTo>
                <a:lnTo>
                  <a:pt x="0" y="1458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918"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5720531" y="1559155"/>
            <a:ext cx="6846938" cy="901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22"/>
              </a:lnSpc>
            </a:pPr>
            <a:r>
              <a:rPr lang="en-US" sz="5230" b="1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KPI ANALYSIS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913155" y="2422968"/>
            <a:ext cx="14461690" cy="492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8"/>
              </a:lnSpc>
            </a:pPr>
            <a:r>
              <a:rPr lang="en-US" sz="199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Performance Indicators</a:t>
            </a:r>
          </a:p>
          <a:p>
            <a:pPr algn="just">
              <a:lnSpc>
                <a:spcPts val="2798"/>
              </a:lnSpc>
            </a:pPr>
            <a:r>
              <a:rPr lang="en-US" sz="199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The dashboard uses four KPIs to summarize the overall performance of the Superstore dataset.</a:t>
            </a:r>
          </a:p>
          <a:p>
            <a:pPr algn="just">
              <a:lnSpc>
                <a:spcPts val="2798"/>
              </a:lnSpc>
            </a:pPr>
            <a:r>
              <a:rPr lang="en-US" sz="199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Total Sales — 12,642,905</a:t>
            </a:r>
          </a:p>
          <a:p>
            <a:pPr algn="just">
              <a:lnSpc>
                <a:spcPts val="2798"/>
              </a:lnSpc>
            </a:pPr>
            <a:r>
              <a:rPr lang="en-US" sz="199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Measures the total sales value generated across the dataset.</a:t>
            </a:r>
          </a:p>
          <a:p>
            <a:pPr algn="just">
              <a:lnSpc>
                <a:spcPts val="2798"/>
              </a:lnSpc>
            </a:pPr>
            <a:r>
              <a:rPr lang="en-US" sz="199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Total Profit — 1,469,035</a:t>
            </a:r>
          </a:p>
          <a:p>
            <a:pPr algn="just">
              <a:lnSpc>
                <a:spcPts val="2798"/>
              </a:lnSpc>
            </a:pPr>
            <a:r>
              <a:rPr lang="en-US" sz="199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Measures the overall profit generated from the analyzed transactions.</a:t>
            </a:r>
          </a:p>
          <a:p>
            <a:pPr algn="just">
              <a:lnSpc>
                <a:spcPts val="2798"/>
              </a:lnSpc>
            </a:pPr>
            <a:r>
              <a:rPr lang="en-US" sz="199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Total Quantity — 178,312</a:t>
            </a:r>
          </a:p>
          <a:p>
            <a:pPr algn="just">
              <a:lnSpc>
                <a:spcPts val="2798"/>
              </a:lnSpc>
            </a:pPr>
            <a:r>
              <a:rPr lang="en-US" sz="199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Represents the total quantity of items sold.</a:t>
            </a:r>
          </a:p>
          <a:p>
            <a:pPr algn="just">
              <a:lnSpc>
                <a:spcPts val="2798"/>
              </a:lnSpc>
            </a:pPr>
            <a:r>
              <a:rPr lang="en-US" sz="199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Profit Margin — 11.62%</a:t>
            </a:r>
          </a:p>
          <a:p>
            <a:pPr algn="just">
              <a:lnSpc>
                <a:spcPts val="2798"/>
              </a:lnSpc>
            </a:pPr>
            <a:r>
              <a:rPr lang="en-US" sz="199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Calculated as Total Profit divided by Total Sales, multiplied by 100.</a:t>
            </a:r>
          </a:p>
          <a:p>
            <a:pPr algn="just">
              <a:lnSpc>
                <a:spcPts val="2798"/>
              </a:lnSpc>
            </a:pPr>
            <a:r>
              <a:rPr lang="en-US" sz="199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Understanding:</a:t>
            </a:r>
          </a:p>
          <a:p>
            <a:pPr algn="just">
              <a:lnSpc>
                <a:spcPts val="2798"/>
              </a:lnSpc>
            </a:pPr>
            <a:r>
              <a:rPr lang="en-US" sz="199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These KPIs provide a quick overview of sales volume and profitability. Comparing sales with profit helps evaluate whether revenue generation is translating into business returns.</a:t>
            </a:r>
          </a:p>
          <a:p>
            <a:pPr algn="just">
              <a:lnSpc>
                <a:spcPts val="2798"/>
              </a:lnSpc>
            </a:pPr>
            <a:endParaRPr lang="en-US" sz="1999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id="3" name="Freeform 3"/>
            <p:cNvSpPr/>
            <p:nvPr/>
          </p:nvSpPr>
          <p:spPr>
            <a:xfrm flipV="1">
              <a:off x="10693806" y="89086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V="1">
              <a:off x="21387611" y="0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25614703" y="9670425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14920898" y="10561294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V="1">
              <a:off x="0" y="178173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4227092" y="11452163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id="35" name="Group 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id="45" name="Group 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54" name="Freeform 54"/>
          <p:cNvSpPr/>
          <p:nvPr/>
        </p:nvSpPr>
        <p:spPr>
          <a:xfrm>
            <a:off x="1725287" y="6459392"/>
            <a:ext cx="3483247" cy="2942866"/>
          </a:xfrm>
          <a:custGeom>
            <a:avLst/>
            <a:gdLst/>
            <a:ahLst/>
            <a:cxnLst/>
            <a:rect l="l" t="t" r="r" b="b"/>
            <a:pathLst>
              <a:path w="3483247" h="2942866">
                <a:moveTo>
                  <a:pt x="0" y="0"/>
                </a:moveTo>
                <a:lnTo>
                  <a:pt x="3483247" y="0"/>
                </a:lnTo>
                <a:lnTo>
                  <a:pt x="3483247" y="2942866"/>
                </a:lnTo>
                <a:lnTo>
                  <a:pt x="0" y="2942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" b="-9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5" name="Freeform 55"/>
          <p:cNvSpPr/>
          <p:nvPr/>
        </p:nvSpPr>
        <p:spPr>
          <a:xfrm>
            <a:off x="7196739" y="6459392"/>
            <a:ext cx="3485186" cy="3066098"/>
          </a:xfrm>
          <a:custGeom>
            <a:avLst/>
            <a:gdLst/>
            <a:ahLst/>
            <a:cxnLst/>
            <a:rect l="l" t="t" r="r" b="b"/>
            <a:pathLst>
              <a:path w="3485186" h="3066098">
                <a:moveTo>
                  <a:pt x="0" y="0"/>
                </a:moveTo>
                <a:lnTo>
                  <a:pt x="3485186" y="0"/>
                </a:lnTo>
                <a:lnTo>
                  <a:pt x="3485186" y="3066099"/>
                </a:lnTo>
                <a:lnTo>
                  <a:pt x="0" y="3066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48" r="-274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6" name="Freeform 56"/>
          <p:cNvSpPr/>
          <p:nvPr/>
        </p:nvSpPr>
        <p:spPr>
          <a:xfrm>
            <a:off x="12670130" y="6487809"/>
            <a:ext cx="3601376" cy="3037682"/>
          </a:xfrm>
          <a:custGeom>
            <a:avLst/>
            <a:gdLst/>
            <a:ahLst/>
            <a:cxnLst/>
            <a:rect l="l" t="t" r="r" b="b"/>
            <a:pathLst>
              <a:path w="3601376" h="3037682">
                <a:moveTo>
                  <a:pt x="0" y="0"/>
                </a:moveTo>
                <a:lnTo>
                  <a:pt x="3601376" y="0"/>
                </a:lnTo>
                <a:lnTo>
                  <a:pt x="3601376" y="3037682"/>
                </a:lnTo>
                <a:lnTo>
                  <a:pt x="0" y="3037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7" name="TextBox 57"/>
          <p:cNvSpPr txBox="1"/>
          <p:nvPr/>
        </p:nvSpPr>
        <p:spPr>
          <a:xfrm>
            <a:off x="2078020" y="1016450"/>
            <a:ext cx="14654940" cy="55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3275" b="1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UNDERSTANDING SALES AND PROFIT ACROSS BUSINESS DIMENSIONS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28700" y="2051297"/>
            <a:ext cx="4876422" cy="466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49"/>
              </a:lnSpc>
            </a:pPr>
            <a:r>
              <a:rPr lang="en-US" sz="16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1: Sales and Profit by Category</a:t>
            </a:r>
          </a:p>
          <a:p>
            <a:pPr algn="just">
              <a:lnSpc>
                <a:spcPts val="2069"/>
              </a:lnSpc>
            </a:pPr>
            <a:r>
              <a:rPr lang="en-US" sz="14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used: </a:t>
            </a: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Comparative chart showing sales and profit by product category.</a:t>
            </a:r>
          </a:p>
          <a:p>
            <a:pPr algn="just">
              <a:lnSpc>
                <a:spcPts val="2069"/>
              </a:lnSpc>
            </a:pPr>
            <a:r>
              <a:rPr lang="en-US" sz="14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To compare the contribution of Furniture, Office Supplies and Technology to overall sales and profit.</a:t>
            </a:r>
          </a:p>
          <a:p>
            <a:pPr algn="just">
              <a:lnSpc>
                <a:spcPts val="2069"/>
              </a:lnSpc>
            </a:pPr>
            <a:r>
              <a:rPr lang="en-US" sz="14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 learned:</a:t>
            </a:r>
          </a:p>
          <a:p>
            <a:pPr marL="319091" lvl="1" indent="-159546" algn="just">
              <a:lnSpc>
                <a:spcPts val="2069"/>
              </a:lnSpc>
              <a:buFont typeface="Arial"/>
              <a:buChar char="•"/>
            </a:pP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Technology generated the highest sales, at approximately 4,744,691, and the highest profit, at approximately 663,779.</a:t>
            </a:r>
          </a:p>
          <a:p>
            <a:pPr marL="319091" lvl="1" indent="-159546" algn="just">
              <a:lnSpc>
                <a:spcPts val="2069"/>
              </a:lnSpc>
              <a:buFont typeface="Arial"/>
              <a:buChar char="•"/>
            </a:pP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Furniture generated sales of approximately 4,110,884 but profit of approximately 286,782.</a:t>
            </a:r>
          </a:p>
          <a:p>
            <a:pPr marL="319091" lvl="1" indent="-159546" algn="just">
              <a:lnSpc>
                <a:spcPts val="2069"/>
              </a:lnSpc>
              <a:buFont typeface="Arial"/>
              <a:buChar char="•"/>
            </a:pP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Office Supplies generated approximately 3,787,330 in sales and 518,474 in profit.</a:t>
            </a:r>
          </a:p>
          <a:p>
            <a:pPr algn="just">
              <a:lnSpc>
                <a:spcPts val="2069"/>
              </a:lnSpc>
            </a:pPr>
            <a:r>
              <a:rPr lang="en-US" sz="14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insight:</a:t>
            </a: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High sales do not always translate into proportionately high profit. Furniture's profitability deserves further investigation.</a:t>
            </a:r>
          </a:p>
          <a:p>
            <a:pPr algn="just">
              <a:lnSpc>
                <a:spcPts val="2069"/>
              </a:lnSpc>
            </a:pPr>
            <a:endParaRPr lang="en-US" sz="1477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6676572" y="2051297"/>
            <a:ext cx="4526490" cy="440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49"/>
              </a:lnSpc>
            </a:pPr>
            <a:r>
              <a:rPr lang="en-US" sz="16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2: Sales and Profit by Market</a:t>
            </a:r>
          </a:p>
          <a:p>
            <a:pPr algn="just">
              <a:lnSpc>
                <a:spcPts val="2069"/>
              </a:lnSpc>
            </a:pPr>
            <a:r>
              <a:rPr lang="en-US" sz="14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used:</a:t>
            </a: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Comparative chart showing sales and profit across markets.</a:t>
            </a:r>
          </a:p>
          <a:p>
            <a:pPr algn="just">
              <a:lnSpc>
                <a:spcPts val="2069"/>
              </a:lnSpc>
            </a:pPr>
            <a:r>
              <a:rPr lang="en-US" sz="14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 </a:t>
            </a: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To understand which markets contribute most to the business.</a:t>
            </a:r>
          </a:p>
          <a:p>
            <a:pPr algn="just">
              <a:lnSpc>
                <a:spcPts val="2069"/>
              </a:lnSpc>
            </a:pPr>
            <a:r>
              <a:rPr lang="en-US" sz="14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 learned:</a:t>
            </a:r>
          </a:p>
          <a:p>
            <a:pPr marL="319091" lvl="1" indent="-159546" algn="just">
              <a:lnSpc>
                <a:spcPts val="2069"/>
              </a:lnSpc>
              <a:buFont typeface="Arial"/>
              <a:buChar char="•"/>
            </a:pP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APAC generated approximately 3,585,833 in sales and 437,578 in profit.</a:t>
            </a:r>
          </a:p>
          <a:p>
            <a:pPr marL="319091" lvl="1" indent="-159546" algn="just">
              <a:lnSpc>
                <a:spcPts val="2069"/>
              </a:lnSpc>
              <a:buFont typeface="Arial"/>
              <a:buChar char="•"/>
            </a:pP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EU generated approximately 2,938,139 in sales and 372,830 in profit.</a:t>
            </a:r>
          </a:p>
          <a:p>
            <a:pPr marL="319091" lvl="1" indent="-159546" algn="just">
              <a:lnSpc>
                <a:spcPts val="2069"/>
              </a:lnSpc>
              <a:buFont typeface="Arial"/>
              <a:buChar char="•"/>
            </a:pP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The US generated approximately 2,297,354 in sales and 286,397 in profit.</a:t>
            </a:r>
          </a:p>
          <a:p>
            <a:pPr algn="just">
              <a:lnSpc>
                <a:spcPts val="2069"/>
              </a:lnSpc>
            </a:pPr>
            <a:r>
              <a:rPr lang="en-US" sz="14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insight:</a:t>
            </a:r>
            <a:r>
              <a:rPr lang="en-US" sz="14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APAC leads the analyzed markets in both sales and profit. Market-level performance can help management prioritize further investigation and planning.</a:t>
            </a:r>
          </a:p>
          <a:p>
            <a:pPr algn="just">
              <a:lnSpc>
                <a:spcPts val="2069"/>
              </a:lnSpc>
            </a:pPr>
            <a:endParaRPr lang="en-US" sz="1477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1974514" y="2051297"/>
            <a:ext cx="4758446" cy="417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08"/>
              </a:lnSpc>
            </a:pPr>
            <a:r>
              <a:rPr lang="en-US" sz="164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3: Sales and Profit by Customer Segment</a:t>
            </a:r>
          </a:p>
          <a:p>
            <a:pPr algn="just">
              <a:lnSpc>
                <a:spcPts val="2028"/>
              </a:lnSpc>
            </a:pPr>
            <a:r>
              <a:rPr lang="en-US" sz="144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used: </a:t>
            </a:r>
            <a:r>
              <a:rPr lang="en-US" sz="14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Comparative chart by Consumer, Corporate and Home Office segments.</a:t>
            </a:r>
          </a:p>
          <a:p>
            <a:pPr algn="just">
              <a:lnSpc>
                <a:spcPts val="2028"/>
              </a:lnSpc>
            </a:pPr>
            <a:r>
              <a:rPr lang="en-US" sz="144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 </a:t>
            </a:r>
            <a:r>
              <a:rPr lang="en-US" sz="14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To understand which customer segments contribute most to sales and profit.</a:t>
            </a:r>
          </a:p>
          <a:p>
            <a:pPr algn="just">
              <a:lnSpc>
                <a:spcPts val="2028"/>
              </a:lnSpc>
            </a:pPr>
            <a:r>
              <a:rPr lang="en-US" sz="144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 learned:</a:t>
            </a:r>
          </a:p>
          <a:p>
            <a:pPr marL="312815" lvl="1" indent="-156407" algn="just">
              <a:lnSpc>
                <a:spcPts val="2028"/>
              </a:lnSpc>
              <a:buFont typeface="Arial"/>
              <a:buChar char="•"/>
            </a:pPr>
            <a:r>
              <a:rPr lang="en-US" sz="14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Consumer generated approximately 6,508,141 in sales and 749,240 in profit.</a:t>
            </a:r>
          </a:p>
          <a:p>
            <a:pPr marL="312815" lvl="1" indent="-156407" algn="just">
              <a:lnSpc>
                <a:spcPts val="2028"/>
              </a:lnSpc>
              <a:buFont typeface="Arial"/>
              <a:buChar char="•"/>
            </a:pPr>
            <a:r>
              <a:rPr lang="en-US" sz="14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Corporate generated approximately 3,824,808 in sales and 442,786 in profit.</a:t>
            </a:r>
          </a:p>
          <a:p>
            <a:pPr marL="312815" lvl="1" indent="-156407" algn="just">
              <a:lnSpc>
                <a:spcPts val="2028"/>
              </a:lnSpc>
              <a:buFont typeface="Arial"/>
              <a:buChar char="•"/>
            </a:pPr>
            <a:r>
              <a:rPr lang="en-US" sz="14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Home Office generated approximately 2,309,956 in sales and 277,009 in profit.</a:t>
            </a:r>
          </a:p>
          <a:p>
            <a:pPr algn="just">
              <a:lnSpc>
                <a:spcPts val="2028"/>
              </a:lnSpc>
            </a:pPr>
            <a:r>
              <a:rPr lang="en-US" sz="144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insight:</a:t>
            </a:r>
            <a:r>
              <a:rPr lang="en-US" sz="14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Consumer is the largest segment by both sales and profit in this dataset.</a:t>
            </a:r>
          </a:p>
          <a:p>
            <a:pPr algn="just">
              <a:lnSpc>
                <a:spcPts val="2028"/>
              </a:lnSpc>
            </a:pPr>
            <a:endParaRPr lang="en-US" sz="1448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1" name="AutoShape 61"/>
          <p:cNvSpPr/>
          <p:nvPr/>
        </p:nvSpPr>
        <p:spPr>
          <a:xfrm>
            <a:off x="6295572" y="2089397"/>
            <a:ext cx="0" cy="43706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 flipH="1">
            <a:off x="11588788" y="2138174"/>
            <a:ext cx="0" cy="432121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id="3" name="Freeform 3"/>
            <p:cNvSpPr/>
            <p:nvPr/>
          </p:nvSpPr>
          <p:spPr>
            <a:xfrm flipV="1">
              <a:off x="10693806" y="89086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V="1">
              <a:off x="21387611" y="0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25614703" y="9670425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14920898" y="10561294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V="1">
              <a:off x="0" y="178173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4227092" y="11452163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328767" y="528676"/>
            <a:ext cx="17630466" cy="9341753"/>
            <a:chOff x="0" y="0"/>
            <a:chExt cx="23507288" cy="1245567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7648425"/>
              <a:ext cx="63500" cy="4807246"/>
              <a:chOff x="0" y="0"/>
              <a:chExt cx="12543" cy="94957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543" cy="949579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49579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49579"/>
                    </a:lnTo>
                    <a:lnTo>
                      <a:pt x="0" y="949579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543" cy="9876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6920832" y="5534839"/>
              <a:ext cx="63500" cy="13778164"/>
              <a:chOff x="0" y="0"/>
              <a:chExt cx="12543" cy="27216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23443788" y="0"/>
              <a:ext cx="63500" cy="4807246"/>
              <a:chOff x="0" y="0"/>
              <a:chExt cx="12543" cy="94957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543" cy="949579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49579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49579"/>
                    </a:lnTo>
                    <a:lnTo>
                      <a:pt x="0" y="949579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543" cy="9876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2957231" y="403596"/>
              <a:ext cx="63500" cy="1630251"/>
              <a:chOff x="0" y="0"/>
              <a:chExt cx="12543" cy="322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543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2025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2025"/>
                    </a:lnTo>
                    <a:lnTo>
                      <a:pt x="0" y="322025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543" cy="360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5400000">
              <a:off x="20138971" y="-2388635"/>
              <a:ext cx="63500" cy="5647961"/>
              <a:chOff x="0" y="0"/>
              <a:chExt cx="12543" cy="11156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86556" y="10421824"/>
              <a:ext cx="63500" cy="1630251"/>
              <a:chOff x="0" y="0"/>
              <a:chExt cx="12543" cy="322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543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2025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2025"/>
                    </a:lnTo>
                    <a:lnTo>
                      <a:pt x="0" y="322025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543" cy="360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-5400000">
              <a:off x="3304817" y="9197836"/>
              <a:ext cx="63500" cy="5647961"/>
              <a:chOff x="0" y="0"/>
              <a:chExt cx="12543" cy="111564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id="35" name="Group 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id="45" name="Group 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54" name="Freeform 54"/>
          <p:cNvSpPr/>
          <p:nvPr/>
        </p:nvSpPr>
        <p:spPr>
          <a:xfrm>
            <a:off x="2078020" y="5855508"/>
            <a:ext cx="3556177" cy="3004482"/>
          </a:xfrm>
          <a:custGeom>
            <a:avLst/>
            <a:gdLst/>
            <a:ahLst/>
            <a:cxnLst/>
            <a:rect l="l" t="t" r="r" b="b"/>
            <a:pathLst>
              <a:path w="3556177" h="3004482">
                <a:moveTo>
                  <a:pt x="0" y="0"/>
                </a:moveTo>
                <a:lnTo>
                  <a:pt x="3556177" y="0"/>
                </a:lnTo>
                <a:lnTo>
                  <a:pt x="3556177" y="3004482"/>
                </a:lnTo>
                <a:lnTo>
                  <a:pt x="0" y="300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0" r="-59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5" name="Freeform 55"/>
          <p:cNvSpPr/>
          <p:nvPr/>
        </p:nvSpPr>
        <p:spPr>
          <a:xfrm>
            <a:off x="10470637" y="5793892"/>
            <a:ext cx="3485186" cy="3066098"/>
          </a:xfrm>
          <a:custGeom>
            <a:avLst/>
            <a:gdLst/>
            <a:ahLst/>
            <a:cxnLst/>
            <a:rect l="l" t="t" r="r" b="b"/>
            <a:pathLst>
              <a:path w="3485186" h="3066098">
                <a:moveTo>
                  <a:pt x="0" y="0"/>
                </a:moveTo>
                <a:lnTo>
                  <a:pt x="3485187" y="0"/>
                </a:lnTo>
                <a:lnTo>
                  <a:pt x="3485187" y="3066098"/>
                </a:lnTo>
                <a:lnTo>
                  <a:pt x="0" y="3066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79" r="-267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6" name="TextBox 56"/>
          <p:cNvSpPr txBox="1"/>
          <p:nvPr/>
        </p:nvSpPr>
        <p:spPr>
          <a:xfrm>
            <a:off x="2078020" y="1016450"/>
            <a:ext cx="14654940" cy="55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3275" b="1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IDENTIFYING GEOGRAPHIC AND SALES TRENDS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28700" y="2060822"/>
            <a:ext cx="6862641" cy="3571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32"/>
              </a:lnSpc>
            </a:pPr>
            <a:r>
              <a:rPr lang="en-US" sz="1523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4: Sales and Profit by Region</a:t>
            </a:r>
          </a:p>
          <a:p>
            <a:pPr algn="just">
              <a:lnSpc>
                <a:spcPts val="2132"/>
              </a:lnSpc>
            </a:pPr>
            <a:r>
              <a:rPr lang="en-US" sz="1523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used:</a:t>
            </a:r>
            <a:r>
              <a:rPr lang="en-US" sz="152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Comparative chart showing sales and profit by region.</a:t>
            </a:r>
          </a:p>
          <a:p>
            <a:pPr algn="just">
              <a:lnSpc>
                <a:spcPts val="2132"/>
              </a:lnSpc>
            </a:pPr>
            <a:r>
              <a:rPr lang="en-US" sz="1523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152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To compare business performance across geographic regions.</a:t>
            </a:r>
          </a:p>
          <a:p>
            <a:pPr algn="just">
              <a:lnSpc>
                <a:spcPts val="2132"/>
              </a:lnSpc>
            </a:pPr>
            <a:r>
              <a:rPr lang="en-US" sz="1523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 learned:</a:t>
            </a:r>
          </a:p>
          <a:p>
            <a:pPr marL="362712" lvl="1" indent="-181356" algn="just">
              <a:lnSpc>
                <a:spcPts val="2351"/>
              </a:lnSpc>
              <a:buFont typeface="Arial"/>
              <a:buChar char="•"/>
            </a:pPr>
            <a:r>
              <a:rPr lang="en-US" sz="16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Central recorded the highest sales among the listed regions, at approximately 2,822,399, and profit of approximately 311,404.</a:t>
            </a:r>
          </a:p>
          <a:p>
            <a:pPr marL="362712" lvl="1" indent="-181356" algn="just">
              <a:lnSpc>
                <a:spcPts val="2351"/>
              </a:lnSpc>
              <a:buFont typeface="Arial"/>
              <a:buChar char="•"/>
            </a:pPr>
            <a:r>
              <a:rPr lang="en-US" sz="16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South generated approximately 1,600,960 in sales and 140,356 in profit.</a:t>
            </a:r>
          </a:p>
          <a:p>
            <a:pPr marL="328934" lvl="1" indent="-164467" algn="just">
              <a:lnSpc>
                <a:spcPts val="2132"/>
              </a:lnSpc>
              <a:buFont typeface="Arial"/>
              <a:buChar char="•"/>
            </a:pPr>
            <a:r>
              <a:rPr lang="en-US" sz="152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North generated approximately 1,248,192 in sales and 194,598 in profit.</a:t>
            </a:r>
          </a:p>
          <a:p>
            <a:pPr algn="just">
              <a:lnSpc>
                <a:spcPts val="2132"/>
              </a:lnSpc>
            </a:pPr>
            <a:r>
              <a:rPr lang="en-US" sz="1523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insight:</a:t>
            </a:r>
            <a:r>
              <a:rPr lang="en-US" sz="1523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Regional sales and profitability should be evaluated together to identify opportunities and areas requiring further analysis.</a:t>
            </a:r>
          </a:p>
          <a:p>
            <a:pPr algn="just">
              <a:lnSpc>
                <a:spcPts val="2132"/>
              </a:lnSpc>
            </a:pPr>
            <a:endParaRPr lang="en-US" sz="1523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608745" y="2051297"/>
            <a:ext cx="8124215" cy="314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49"/>
              </a:lnSpc>
            </a:pPr>
            <a:r>
              <a:rPr lang="en-US" sz="16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5: Yearly Sales Performance</a:t>
            </a:r>
          </a:p>
          <a:p>
            <a:pPr algn="just">
              <a:lnSpc>
                <a:spcPts val="2349"/>
              </a:lnSpc>
            </a:pPr>
            <a:r>
              <a:rPr lang="en-US" sz="16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used:</a:t>
            </a: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Comparative column chart showing yearly sales and profit.</a:t>
            </a:r>
          </a:p>
          <a:p>
            <a:pPr algn="just">
              <a:lnSpc>
                <a:spcPts val="2349"/>
              </a:lnSpc>
            </a:pPr>
            <a:r>
              <a:rPr lang="en-US" sz="16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To compare business performance across 2011, 2012, 2013 and 2014.</a:t>
            </a:r>
          </a:p>
          <a:p>
            <a:pPr algn="just">
              <a:lnSpc>
                <a:spcPts val="2015"/>
              </a:lnSpc>
            </a:pPr>
            <a:r>
              <a:rPr lang="en-US" sz="143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 learned:</a:t>
            </a:r>
          </a:p>
          <a:p>
            <a:pPr algn="just">
              <a:lnSpc>
                <a:spcPts val="2015"/>
              </a:lnSpc>
            </a:pPr>
            <a:endParaRPr lang="en-US" sz="1439" b="1">
              <a:solidFill>
                <a:srgbClr val="17415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62270" lvl="1" indent="-181135" algn="just">
              <a:lnSpc>
                <a:spcPts val="2349"/>
              </a:lnSpc>
              <a:buFont typeface="Arial"/>
              <a:buChar char="•"/>
            </a:pP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2011 sales: approximately 2,259,511.</a:t>
            </a:r>
          </a:p>
          <a:p>
            <a:pPr marL="362270" lvl="1" indent="-181135" algn="just">
              <a:lnSpc>
                <a:spcPts val="2349"/>
              </a:lnSpc>
              <a:buFont typeface="Arial"/>
              <a:buChar char="•"/>
            </a:pP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2012 sales: approximately 2,677,493.</a:t>
            </a:r>
          </a:p>
          <a:p>
            <a:pPr marL="362270" lvl="1" indent="-181135" algn="just">
              <a:lnSpc>
                <a:spcPts val="2349"/>
              </a:lnSpc>
              <a:buFont typeface="Arial"/>
              <a:buChar char="•"/>
            </a:pP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2013 sales: approximately 3,405,860.</a:t>
            </a:r>
          </a:p>
          <a:p>
            <a:pPr marL="362270" lvl="1" indent="-181135" algn="just">
              <a:lnSpc>
                <a:spcPts val="2349"/>
              </a:lnSpc>
              <a:buFont typeface="Arial"/>
              <a:buChar char="•"/>
            </a:pP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2014 sales: approximately 4,300,041.</a:t>
            </a:r>
          </a:p>
          <a:p>
            <a:pPr algn="just">
              <a:lnSpc>
                <a:spcPts val="2349"/>
              </a:lnSpc>
            </a:pPr>
            <a:r>
              <a:rPr lang="en-US" sz="16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insight: </a:t>
            </a: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Sales increased every year in the analyzed period, indicating a sustained upward trend in the dataset.</a:t>
            </a:r>
          </a:p>
        </p:txBody>
      </p:sp>
      <p:sp>
        <p:nvSpPr>
          <p:cNvPr id="59" name="AutoShape 59"/>
          <p:cNvSpPr/>
          <p:nvPr/>
        </p:nvSpPr>
        <p:spPr>
          <a:xfrm flipH="1">
            <a:off x="8250043" y="2089397"/>
            <a:ext cx="0" cy="354270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id="3" name="Freeform 3"/>
            <p:cNvSpPr/>
            <p:nvPr/>
          </p:nvSpPr>
          <p:spPr>
            <a:xfrm flipV="1">
              <a:off x="10693806" y="89086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V="1">
              <a:off x="21387611" y="0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25614703" y="9670425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14920898" y="10561294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V="1">
              <a:off x="0" y="178173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4227092" y="11452163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249174" y="360263"/>
            <a:ext cx="17789651" cy="9566473"/>
            <a:chOff x="0" y="0"/>
            <a:chExt cx="23719535" cy="1275529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7832412"/>
              <a:ext cx="64073" cy="4922886"/>
              <a:chOff x="0" y="0"/>
              <a:chExt cx="12656" cy="9724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656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656" h="972422">
                    <a:moveTo>
                      <a:pt x="0" y="0"/>
                    </a:moveTo>
                    <a:lnTo>
                      <a:pt x="12656" y="0"/>
                    </a:lnTo>
                    <a:lnTo>
                      <a:pt x="12656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656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6983607" y="5772264"/>
              <a:ext cx="63500" cy="13902567"/>
              <a:chOff x="0" y="0"/>
              <a:chExt cx="12543" cy="274618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543" cy="2746186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46186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46186"/>
                    </a:lnTo>
                    <a:lnTo>
                      <a:pt x="0" y="2746186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543" cy="2784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23655461" y="0"/>
              <a:ext cx="64073" cy="4922886"/>
              <a:chOff x="0" y="0"/>
              <a:chExt cx="12656" cy="97242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656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656" h="972422">
                    <a:moveTo>
                      <a:pt x="0" y="0"/>
                    </a:moveTo>
                    <a:lnTo>
                      <a:pt x="12656" y="0"/>
                    </a:lnTo>
                    <a:lnTo>
                      <a:pt x="12656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656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16672428" y="-6919534"/>
              <a:ext cx="63500" cy="13902567"/>
              <a:chOff x="0" y="0"/>
              <a:chExt cx="12543" cy="274618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543" cy="2746186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46186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46186"/>
                    </a:lnTo>
                    <a:lnTo>
                      <a:pt x="0" y="2746186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2543" cy="2784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3164512" y="413305"/>
              <a:ext cx="64073" cy="1669468"/>
              <a:chOff x="0" y="0"/>
              <a:chExt cx="12656" cy="32977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656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656" h="329771">
                    <a:moveTo>
                      <a:pt x="0" y="0"/>
                    </a:moveTo>
                    <a:lnTo>
                      <a:pt x="12656" y="0"/>
                    </a:lnTo>
                    <a:lnTo>
                      <a:pt x="12656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656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5400000">
              <a:off x="20321092" y="-2404424"/>
              <a:ext cx="63500" cy="5698957"/>
              <a:chOff x="0" y="0"/>
              <a:chExt cx="12543" cy="112572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543" cy="1125720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25720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25720"/>
                    </a:lnTo>
                    <a:lnTo>
                      <a:pt x="0" y="1125720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2543" cy="1163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90949" y="10672525"/>
              <a:ext cx="64073" cy="1669468"/>
              <a:chOff x="0" y="0"/>
              <a:chExt cx="12656" cy="32977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656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656" h="329771">
                    <a:moveTo>
                      <a:pt x="0" y="0"/>
                    </a:moveTo>
                    <a:lnTo>
                      <a:pt x="12656" y="0"/>
                    </a:lnTo>
                    <a:lnTo>
                      <a:pt x="12656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656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-5400000">
              <a:off x="3334943" y="9460765"/>
              <a:ext cx="63500" cy="5698957"/>
              <a:chOff x="0" y="0"/>
              <a:chExt cx="12543" cy="112572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543" cy="1125720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25720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25720"/>
                    </a:lnTo>
                    <a:lnTo>
                      <a:pt x="0" y="1125720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2543" cy="1163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id="35" name="Group 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id="45" name="Group 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54" name="Freeform 54"/>
          <p:cNvSpPr/>
          <p:nvPr/>
        </p:nvSpPr>
        <p:spPr>
          <a:xfrm>
            <a:off x="2078020" y="5855508"/>
            <a:ext cx="3556177" cy="3004482"/>
          </a:xfrm>
          <a:custGeom>
            <a:avLst/>
            <a:gdLst/>
            <a:ahLst/>
            <a:cxnLst/>
            <a:rect l="l" t="t" r="r" b="b"/>
            <a:pathLst>
              <a:path w="3556177" h="3004482">
                <a:moveTo>
                  <a:pt x="0" y="0"/>
                </a:moveTo>
                <a:lnTo>
                  <a:pt x="3556177" y="0"/>
                </a:lnTo>
                <a:lnTo>
                  <a:pt x="3556177" y="3004482"/>
                </a:lnTo>
                <a:lnTo>
                  <a:pt x="0" y="300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9" r="-28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5" name="Freeform 55"/>
          <p:cNvSpPr/>
          <p:nvPr/>
        </p:nvSpPr>
        <p:spPr>
          <a:xfrm>
            <a:off x="10470637" y="5793892"/>
            <a:ext cx="3485186" cy="3066098"/>
          </a:xfrm>
          <a:custGeom>
            <a:avLst/>
            <a:gdLst/>
            <a:ahLst/>
            <a:cxnLst/>
            <a:rect l="l" t="t" r="r" b="b"/>
            <a:pathLst>
              <a:path w="3485186" h="3066098">
                <a:moveTo>
                  <a:pt x="0" y="0"/>
                </a:moveTo>
                <a:lnTo>
                  <a:pt x="3485187" y="0"/>
                </a:lnTo>
                <a:lnTo>
                  <a:pt x="3485187" y="3066098"/>
                </a:lnTo>
                <a:lnTo>
                  <a:pt x="0" y="3066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56" r="-205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6" name="TextBox 56"/>
          <p:cNvSpPr txBox="1"/>
          <p:nvPr/>
        </p:nvSpPr>
        <p:spPr>
          <a:xfrm>
            <a:off x="2078020" y="1016450"/>
            <a:ext cx="14654940" cy="55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3275" b="1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IDENTIFYING GEOGRAPHIC AND SALES TRENDS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28700" y="2060822"/>
            <a:ext cx="6660460" cy="372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3"/>
              </a:lnSpc>
            </a:pPr>
            <a:r>
              <a:rPr lang="en-US" sz="163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6: Yearly Profit Performance</a:t>
            </a:r>
          </a:p>
          <a:p>
            <a:pPr algn="just">
              <a:lnSpc>
                <a:spcPts val="2293"/>
              </a:lnSpc>
            </a:pPr>
            <a:r>
              <a:rPr lang="en-US" sz="163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used: </a:t>
            </a:r>
            <a:r>
              <a:rPr lang="en-US" sz="163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Column chart showing yearly profit.</a:t>
            </a:r>
          </a:p>
          <a:p>
            <a:pPr algn="just">
              <a:lnSpc>
                <a:spcPts val="2293"/>
              </a:lnSpc>
            </a:pPr>
            <a:r>
              <a:rPr lang="en-US" sz="163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163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To examine whether profitability increased alongside sales.</a:t>
            </a:r>
          </a:p>
          <a:p>
            <a:pPr algn="just">
              <a:lnSpc>
                <a:spcPts val="2293"/>
              </a:lnSpc>
            </a:pPr>
            <a:r>
              <a:rPr lang="en-US" sz="163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 learned:</a:t>
            </a:r>
          </a:p>
          <a:p>
            <a:pPr marL="353764" lvl="1" indent="-176882" algn="just">
              <a:lnSpc>
                <a:spcPts val="2293"/>
              </a:lnSpc>
              <a:buFont typeface="Arial"/>
              <a:buChar char="•"/>
            </a:pPr>
            <a:r>
              <a:rPr lang="en-US" sz="163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2011 profit: approximately 248,941.</a:t>
            </a:r>
          </a:p>
          <a:p>
            <a:pPr marL="353764" lvl="1" indent="-176882" algn="just">
              <a:lnSpc>
                <a:spcPts val="2293"/>
              </a:lnSpc>
              <a:buFont typeface="Arial"/>
              <a:buChar char="•"/>
            </a:pPr>
            <a:r>
              <a:rPr lang="en-US" sz="163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2012 profit: approximately 307,415.</a:t>
            </a:r>
          </a:p>
          <a:p>
            <a:pPr marL="353764" lvl="1" indent="-176882" algn="just">
              <a:lnSpc>
                <a:spcPts val="2293"/>
              </a:lnSpc>
              <a:buFont typeface="Arial"/>
              <a:buChar char="•"/>
            </a:pPr>
            <a:r>
              <a:rPr lang="en-US" sz="163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2013 profit: approximately 408,513.</a:t>
            </a:r>
          </a:p>
          <a:p>
            <a:pPr marL="353764" lvl="1" indent="-176882" algn="just">
              <a:lnSpc>
                <a:spcPts val="2293"/>
              </a:lnSpc>
              <a:buFont typeface="Arial"/>
              <a:buChar char="•"/>
            </a:pPr>
            <a:r>
              <a:rPr lang="en-US" sz="163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2014 profit: approximately 504,166.</a:t>
            </a:r>
          </a:p>
          <a:p>
            <a:pPr algn="just">
              <a:lnSpc>
                <a:spcPts val="2293"/>
              </a:lnSpc>
            </a:pPr>
            <a:r>
              <a:rPr lang="en-US" sz="163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insight:</a:t>
            </a:r>
            <a:r>
              <a:rPr lang="en-US" sz="163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Total profit also increased each year. Monitoring both sales and profit provides a more complete picture than sales alone.</a:t>
            </a:r>
          </a:p>
          <a:p>
            <a:pPr algn="just">
              <a:lnSpc>
                <a:spcPts val="2529"/>
              </a:lnSpc>
            </a:pPr>
            <a:endParaRPr lang="en-US" sz="1638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608745" y="2051297"/>
            <a:ext cx="7654011" cy="3833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53"/>
              </a:lnSpc>
            </a:pPr>
            <a:r>
              <a:rPr lang="en-US" sz="1680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7: Monthly Sales Trend</a:t>
            </a:r>
          </a:p>
          <a:p>
            <a:pPr algn="just">
              <a:lnSpc>
                <a:spcPts val="2353"/>
              </a:lnSpc>
            </a:pPr>
            <a:r>
              <a:rPr lang="en-US" sz="1680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used:</a:t>
            </a:r>
            <a:r>
              <a:rPr lang="en-US" sz="1680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Line chart with four lines representing 2011–2014.</a:t>
            </a:r>
          </a:p>
          <a:p>
            <a:pPr algn="just">
              <a:lnSpc>
                <a:spcPts val="2353"/>
              </a:lnSpc>
            </a:pPr>
            <a:r>
              <a:rPr lang="en-US" sz="1680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1680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To compare monthly sales patterns across the four years.</a:t>
            </a:r>
          </a:p>
          <a:p>
            <a:pPr algn="just">
              <a:lnSpc>
                <a:spcPts val="2353"/>
              </a:lnSpc>
            </a:pPr>
            <a:r>
              <a:rPr lang="en-US" sz="1680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 learned:</a:t>
            </a:r>
          </a:p>
          <a:p>
            <a:pPr marL="362892" lvl="1" indent="-181446" algn="just">
              <a:lnSpc>
                <a:spcPts val="2353"/>
              </a:lnSpc>
              <a:buFont typeface="Arial"/>
              <a:buChar char="•"/>
            </a:pPr>
            <a:r>
              <a:rPr lang="en-US" sz="1680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The chart allows month-by-month comparison across years.</a:t>
            </a:r>
          </a:p>
          <a:p>
            <a:pPr marL="362892" lvl="1" indent="-181446" algn="just">
              <a:lnSpc>
                <a:spcPts val="2353"/>
              </a:lnSpc>
              <a:buFont typeface="Arial"/>
              <a:buChar char="•"/>
            </a:pPr>
            <a:r>
              <a:rPr lang="en-US" sz="1680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November and December show relatively high combined sales in the dataset.</a:t>
            </a:r>
          </a:p>
          <a:p>
            <a:pPr marL="362892" lvl="1" indent="-181446" algn="just">
              <a:lnSpc>
                <a:spcPts val="2353"/>
              </a:lnSpc>
              <a:buFont typeface="Arial"/>
              <a:buChar char="•"/>
            </a:pPr>
            <a:r>
              <a:rPr lang="en-US" sz="1680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Monthly sales patterns can help support inventory and promotional planning.</a:t>
            </a:r>
          </a:p>
          <a:p>
            <a:pPr algn="just">
              <a:lnSpc>
                <a:spcPts val="2353"/>
              </a:lnSpc>
            </a:pPr>
            <a:r>
              <a:rPr lang="en-US" sz="1680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insight:</a:t>
            </a:r>
            <a:r>
              <a:rPr lang="en-US" sz="1680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Historical monthly patterns can inform planning, but additional analysis is needed before concluding why particular months perform better.</a:t>
            </a:r>
          </a:p>
          <a:p>
            <a:pPr algn="just">
              <a:lnSpc>
                <a:spcPts val="2353"/>
              </a:lnSpc>
            </a:pPr>
            <a:endParaRPr lang="en-US" sz="1680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9" name="AutoShape 59"/>
          <p:cNvSpPr/>
          <p:nvPr/>
        </p:nvSpPr>
        <p:spPr>
          <a:xfrm flipH="1">
            <a:off x="8148952" y="2089397"/>
            <a:ext cx="0" cy="379588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id="3" name="Freeform 3"/>
            <p:cNvSpPr/>
            <p:nvPr/>
          </p:nvSpPr>
          <p:spPr>
            <a:xfrm flipV="1">
              <a:off x="10693806" y="89086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V="1">
              <a:off x="21387611" y="0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25614703" y="9670425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14920898" y="10561294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V="1">
              <a:off x="0" y="178173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4227092" y="11452163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id="35" name="Group 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id="45" name="Group 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54" name="Freeform 54"/>
          <p:cNvSpPr/>
          <p:nvPr/>
        </p:nvSpPr>
        <p:spPr>
          <a:xfrm>
            <a:off x="1725287" y="6459392"/>
            <a:ext cx="3483247" cy="2942866"/>
          </a:xfrm>
          <a:custGeom>
            <a:avLst/>
            <a:gdLst/>
            <a:ahLst/>
            <a:cxnLst/>
            <a:rect l="l" t="t" r="r" b="b"/>
            <a:pathLst>
              <a:path w="3483247" h="2942866">
                <a:moveTo>
                  <a:pt x="0" y="0"/>
                </a:moveTo>
                <a:lnTo>
                  <a:pt x="3483247" y="0"/>
                </a:lnTo>
                <a:lnTo>
                  <a:pt x="3483247" y="2942866"/>
                </a:lnTo>
                <a:lnTo>
                  <a:pt x="0" y="2942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" b="-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5" name="Freeform 55"/>
          <p:cNvSpPr/>
          <p:nvPr/>
        </p:nvSpPr>
        <p:spPr>
          <a:xfrm>
            <a:off x="7196739" y="6459392"/>
            <a:ext cx="3485186" cy="3066098"/>
          </a:xfrm>
          <a:custGeom>
            <a:avLst/>
            <a:gdLst/>
            <a:ahLst/>
            <a:cxnLst/>
            <a:rect l="l" t="t" r="r" b="b"/>
            <a:pathLst>
              <a:path w="3485186" h="3066098">
                <a:moveTo>
                  <a:pt x="0" y="0"/>
                </a:moveTo>
                <a:lnTo>
                  <a:pt x="3485186" y="0"/>
                </a:lnTo>
                <a:lnTo>
                  <a:pt x="3485186" y="3066099"/>
                </a:lnTo>
                <a:lnTo>
                  <a:pt x="0" y="3066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79" r="-267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6" name="Freeform 56"/>
          <p:cNvSpPr/>
          <p:nvPr/>
        </p:nvSpPr>
        <p:spPr>
          <a:xfrm>
            <a:off x="12670130" y="6487809"/>
            <a:ext cx="3601376" cy="3037682"/>
          </a:xfrm>
          <a:custGeom>
            <a:avLst/>
            <a:gdLst/>
            <a:ahLst/>
            <a:cxnLst/>
            <a:rect l="l" t="t" r="r" b="b"/>
            <a:pathLst>
              <a:path w="3601376" h="3037682">
                <a:moveTo>
                  <a:pt x="0" y="0"/>
                </a:moveTo>
                <a:lnTo>
                  <a:pt x="3601376" y="0"/>
                </a:lnTo>
                <a:lnTo>
                  <a:pt x="3601376" y="3037682"/>
                </a:lnTo>
                <a:lnTo>
                  <a:pt x="0" y="3037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0" b="-9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7" name="TextBox 57"/>
          <p:cNvSpPr txBox="1"/>
          <p:nvPr/>
        </p:nvSpPr>
        <p:spPr>
          <a:xfrm>
            <a:off x="2078020" y="1016450"/>
            <a:ext cx="14654940" cy="55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3275" b="1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EVALUATING PROFITABILITY AND OPERATIONAL PATTERNS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28700" y="2060822"/>
            <a:ext cx="5241934" cy="417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92"/>
              </a:lnSpc>
            </a:pPr>
            <a:r>
              <a:rPr lang="en-US" sz="1566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8: Profit Margin by Discount Level</a:t>
            </a:r>
          </a:p>
          <a:p>
            <a:pPr algn="just">
              <a:lnSpc>
                <a:spcPts val="1805"/>
              </a:lnSpc>
            </a:pPr>
            <a:r>
              <a:rPr lang="en-US" sz="128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used:</a:t>
            </a:r>
            <a:r>
              <a:rPr lang="en-US" sz="128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Scatter chart with lines and markers showing profit margin across discount levels.</a:t>
            </a:r>
          </a:p>
          <a:p>
            <a:pPr algn="just">
              <a:lnSpc>
                <a:spcPts val="1805"/>
              </a:lnSpc>
            </a:pPr>
            <a:r>
              <a:rPr lang="en-US" sz="128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128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To examine how profitability varies at different discount levels.</a:t>
            </a:r>
          </a:p>
          <a:p>
            <a:pPr algn="just">
              <a:lnSpc>
                <a:spcPts val="1805"/>
              </a:lnSpc>
            </a:pPr>
            <a:r>
              <a:rPr lang="en-US" sz="128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 learned:</a:t>
            </a:r>
          </a:p>
          <a:p>
            <a:pPr marL="278509" lvl="1" indent="-139255" algn="just">
              <a:lnSpc>
                <a:spcPts val="1805"/>
              </a:lnSpc>
              <a:buFont typeface="Arial"/>
              <a:buChar char="•"/>
            </a:pPr>
            <a:r>
              <a:rPr lang="en-US" sz="128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Transactions with no discount generated approximately 6,992,734 in sales and 1,770,695 in profit.</a:t>
            </a:r>
          </a:p>
          <a:p>
            <a:pPr marL="298403" lvl="1" indent="-149202" algn="just">
              <a:lnSpc>
                <a:spcPts val="1934"/>
              </a:lnSpc>
              <a:buFont typeface="Arial"/>
              <a:buChar char="•"/>
            </a:pPr>
            <a:r>
              <a:rPr lang="en-US" sz="1382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The profit margin at zero discount was approximately 25.32%.</a:t>
            </a:r>
          </a:p>
          <a:p>
            <a:pPr marL="278509" lvl="1" indent="-139255" algn="just">
              <a:lnSpc>
                <a:spcPts val="1805"/>
              </a:lnSpc>
              <a:buFont typeface="Arial"/>
              <a:buChar char="•"/>
            </a:pPr>
            <a:r>
              <a:rPr lang="en-US" sz="128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Several high-discount levels recorded negative profit.</a:t>
            </a:r>
          </a:p>
          <a:p>
            <a:pPr marL="278509" lvl="1" indent="-139255" algn="just">
              <a:lnSpc>
                <a:spcPts val="1805"/>
              </a:lnSpc>
              <a:buFont typeface="Arial"/>
              <a:buChar char="•"/>
            </a:pPr>
            <a:r>
              <a:rPr lang="en-US" sz="128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The 70% discount level recorded a loss of approximately 186,350.</a:t>
            </a:r>
          </a:p>
          <a:p>
            <a:pPr algn="just">
              <a:lnSpc>
                <a:spcPts val="1805"/>
              </a:lnSpc>
            </a:pPr>
            <a:r>
              <a:rPr lang="en-US" sz="128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insight:</a:t>
            </a:r>
            <a:r>
              <a:rPr lang="en-US" sz="128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Some discount levels are associated with weaker or negative profitability. Management should review discount policies and assess whether discounted transactions generate sufficient profit.</a:t>
            </a:r>
          </a:p>
          <a:p>
            <a:pPr algn="just">
              <a:lnSpc>
                <a:spcPts val="1805"/>
              </a:lnSpc>
            </a:pPr>
            <a:endParaRPr lang="en-US" sz="1289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6880755" y="2051297"/>
            <a:ext cx="4526490" cy="409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49"/>
              </a:lnSpc>
            </a:pPr>
            <a:r>
              <a:rPr lang="en-US" sz="16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9:</a:t>
            </a: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Order Count by Priority</a:t>
            </a:r>
          </a:p>
          <a:p>
            <a:pPr algn="just">
              <a:lnSpc>
                <a:spcPts val="2349"/>
              </a:lnSpc>
            </a:pPr>
            <a:r>
              <a:rPr lang="en-US" sz="16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used:</a:t>
            </a: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Column or bar chart comparing order-record counts across priority levels.</a:t>
            </a:r>
          </a:p>
          <a:p>
            <a:pPr algn="just">
              <a:lnSpc>
                <a:spcPts val="2349"/>
              </a:lnSpc>
            </a:pPr>
            <a:r>
              <a:rPr lang="en-US" sz="16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To understand the distribution of transaction records across order priorities.</a:t>
            </a:r>
          </a:p>
          <a:p>
            <a:pPr algn="just">
              <a:lnSpc>
                <a:spcPts val="2349"/>
              </a:lnSpc>
            </a:pPr>
            <a:r>
              <a:rPr lang="en-US" sz="16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 learned:</a:t>
            </a:r>
          </a:p>
          <a:p>
            <a:pPr marL="362270" lvl="1" indent="-181135" algn="just">
              <a:lnSpc>
                <a:spcPts val="2349"/>
              </a:lnSpc>
              <a:buFont typeface="Arial"/>
              <a:buChar char="•"/>
            </a:pP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Medium priority: 29,433 records.</a:t>
            </a:r>
          </a:p>
          <a:p>
            <a:pPr marL="362270" lvl="1" indent="-181135" algn="just">
              <a:lnSpc>
                <a:spcPts val="2349"/>
              </a:lnSpc>
              <a:buFont typeface="Arial"/>
              <a:buChar char="•"/>
            </a:pP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High priority: 15,501 records.</a:t>
            </a:r>
          </a:p>
          <a:p>
            <a:pPr marL="362270" lvl="1" indent="-181135" algn="just">
              <a:lnSpc>
                <a:spcPts val="2349"/>
              </a:lnSpc>
              <a:buFont typeface="Arial"/>
              <a:buChar char="•"/>
            </a:pP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Critical priority: 3,932 records.</a:t>
            </a:r>
          </a:p>
          <a:p>
            <a:pPr marL="362270" lvl="1" indent="-181135" algn="just">
              <a:lnSpc>
                <a:spcPts val="2349"/>
              </a:lnSpc>
              <a:buFont typeface="Arial"/>
              <a:buChar char="•"/>
            </a:pP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Low priority: 2,424 records.</a:t>
            </a:r>
          </a:p>
          <a:p>
            <a:pPr algn="just">
              <a:lnSpc>
                <a:spcPts val="2349"/>
              </a:lnSpc>
            </a:pPr>
            <a:r>
              <a:rPr lang="en-US" sz="1677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insight:</a:t>
            </a:r>
            <a:r>
              <a:rPr lang="en-US" sz="1677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Understanding order-priority distribution can help evaluate workload and operational planning.</a:t>
            </a:r>
          </a:p>
          <a:p>
            <a:pPr algn="just">
              <a:lnSpc>
                <a:spcPts val="2069"/>
              </a:lnSpc>
            </a:pPr>
            <a:endParaRPr lang="en-US" sz="1677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1974514" y="2051297"/>
            <a:ext cx="4758446" cy="4256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08"/>
              </a:lnSpc>
            </a:pPr>
            <a:r>
              <a:rPr lang="en-US" sz="164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10: </a:t>
            </a:r>
            <a:r>
              <a:rPr lang="en-US" sz="16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Order Count by Shipping Mode</a:t>
            </a:r>
          </a:p>
          <a:p>
            <a:pPr algn="just">
              <a:lnSpc>
                <a:spcPts val="2308"/>
              </a:lnSpc>
            </a:pPr>
            <a:r>
              <a:rPr lang="en-US" sz="164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 used:</a:t>
            </a:r>
            <a:r>
              <a:rPr lang="en-US" sz="16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Column or bar chart comparing order-record counts by shipping mode.</a:t>
            </a:r>
          </a:p>
          <a:p>
            <a:pPr algn="just">
              <a:lnSpc>
                <a:spcPts val="2308"/>
              </a:lnSpc>
            </a:pPr>
            <a:r>
              <a:rPr lang="en-US" sz="164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16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To compare the use of different shipping services.</a:t>
            </a:r>
          </a:p>
          <a:p>
            <a:pPr algn="just">
              <a:lnSpc>
                <a:spcPts val="2308"/>
              </a:lnSpc>
            </a:pPr>
            <a:r>
              <a:rPr lang="en-US" sz="164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 learned:</a:t>
            </a:r>
          </a:p>
          <a:p>
            <a:pPr marL="355994" lvl="1" indent="-177997" algn="just">
              <a:lnSpc>
                <a:spcPts val="2308"/>
              </a:lnSpc>
              <a:buFont typeface="Arial"/>
              <a:buChar char="•"/>
            </a:pPr>
            <a:r>
              <a:rPr lang="en-US" sz="16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Standard Class: 30,775 records.</a:t>
            </a:r>
          </a:p>
          <a:p>
            <a:pPr marL="355994" lvl="1" indent="-177997" algn="just">
              <a:lnSpc>
                <a:spcPts val="2308"/>
              </a:lnSpc>
              <a:buFont typeface="Arial"/>
              <a:buChar char="•"/>
            </a:pPr>
            <a:r>
              <a:rPr lang="en-US" sz="16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Second Class: 10,309 records.</a:t>
            </a:r>
          </a:p>
          <a:p>
            <a:pPr marL="355994" lvl="1" indent="-177997" algn="just">
              <a:lnSpc>
                <a:spcPts val="2308"/>
              </a:lnSpc>
              <a:buFont typeface="Arial"/>
              <a:buChar char="•"/>
            </a:pPr>
            <a:r>
              <a:rPr lang="en-US" sz="16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First Class: 7,505 records.</a:t>
            </a:r>
          </a:p>
          <a:p>
            <a:pPr marL="355994" lvl="1" indent="-177997" algn="just">
              <a:lnSpc>
                <a:spcPts val="2308"/>
              </a:lnSpc>
              <a:buFont typeface="Arial"/>
              <a:buChar char="•"/>
            </a:pPr>
            <a:r>
              <a:rPr lang="en-US" sz="16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Same Day: 2,701 records.</a:t>
            </a:r>
          </a:p>
          <a:p>
            <a:pPr algn="just">
              <a:lnSpc>
                <a:spcPts val="2308"/>
              </a:lnSpc>
            </a:pPr>
            <a:r>
              <a:rPr lang="en-US" sz="1648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insight: </a:t>
            </a:r>
            <a:r>
              <a:rPr lang="en-US" sz="1648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Standard Class accounts for the largest number of records. Shipping costs and delivery requirements should be reviewed together before recommending changes.</a:t>
            </a:r>
          </a:p>
          <a:p>
            <a:pPr algn="just">
              <a:lnSpc>
                <a:spcPts val="2028"/>
              </a:lnSpc>
            </a:pPr>
            <a:endParaRPr lang="en-US" sz="1648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1" name="AutoShape 61"/>
          <p:cNvSpPr/>
          <p:nvPr/>
        </p:nvSpPr>
        <p:spPr>
          <a:xfrm flipH="1">
            <a:off x="11588788" y="2089397"/>
            <a:ext cx="0" cy="42183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>
            <a:off x="6575694" y="2138174"/>
            <a:ext cx="0" cy="4006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id="3" name="Freeform 3"/>
            <p:cNvSpPr/>
            <p:nvPr/>
          </p:nvSpPr>
          <p:spPr>
            <a:xfrm flipV="1">
              <a:off x="10693806" y="89086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V="1">
              <a:off x="21387611" y="0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25614703" y="9670425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14920898" y="10561294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V="1">
              <a:off x="0" y="178173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4227092" y="11452163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id="35" name="Group 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id="45" name="Group 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54" name="TextBox 54"/>
          <p:cNvSpPr txBox="1"/>
          <p:nvPr/>
        </p:nvSpPr>
        <p:spPr>
          <a:xfrm>
            <a:off x="1606435" y="1244830"/>
            <a:ext cx="1507513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 dirty="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LEARNINGS AND BUSINESS RECOMMENDATION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17072" y="2843089"/>
            <a:ext cx="7568891" cy="5946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Findings</a:t>
            </a:r>
          </a:p>
          <a:p>
            <a:pPr marL="384301" lvl="1" indent="-192151" algn="l">
              <a:lnSpc>
                <a:spcPts val="2491"/>
              </a:lnSpc>
              <a:buFont typeface="Arial"/>
              <a:buChar char="•"/>
            </a:pPr>
            <a:r>
              <a:rPr lang="en-US" sz="17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Sales and profit increased year over year from 2011 to 2014.</a:t>
            </a:r>
          </a:p>
          <a:p>
            <a:pPr marL="384301" lvl="1" indent="-192151" algn="l">
              <a:lnSpc>
                <a:spcPts val="2491"/>
              </a:lnSpc>
              <a:buFont typeface="Arial"/>
              <a:buChar char="•"/>
            </a:pPr>
            <a:r>
              <a:rPr lang="en-US" sz="17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Technology led the product categories in both sales and profit.</a:t>
            </a:r>
          </a:p>
          <a:p>
            <a:pPr marL="384301" lvl="1" indent="-192151" algn="l">
              <a:lnSpc>
                <a:spcPts val="2491"/>
              </a:lnSpc>
              <a:buFont typeface="Arial"/>
              <a:buChar char="•"/>
            </a:pPr>
            <a:r>
              <a:rPr lang="en-US" sz="17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APAC recorded the highest sales and profit among the analyzed markets.</a:t>
            </a:r>
          </a:p>
          <a:p>
            <a:pPr marL="384301" lvl="1" indent="-192151" algn="l">
              <a:lnSpc>
                <a:spcPts val="2491"/>
              </a:lnSpc>
              <a:buFont typeface="Arial"/>
              <a:buChar char="•"/>
            </a:pPr>
            <a:r>
              <a:rPr lang="en-US" sz="17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Consumer was the largest customer segment by sales and profit.</a:t>
            </a:r>
          </a:p>
          <a:p>
            <a:pPr marL="384301" lvl="1" indent="-192151" algn="l">
              <a:lnSpc>
                <a:spcPts val="2491"/>
              </a:lnSpc>
              <a:buFont typeface="Arial"/>
              <a:buChar char="•"/>
            </a:pPr>
            <a:r>
              <a:rPr lang="en-US" sz="17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Certain discount levels were associated with negative profit.</a:t>
            </a:r>
          </a:p>
          <a:p>
            <a:pPr marL="384301" lvl="1" indent="-192151" algn="l">
              <a:lnSpc>
                <a:spcPts val="2491"/>
              </a:lnSpc>
              <a:buFont typeface="Arial"/>
              <a:buChar char="•"/>
            </a:pPr>
            <a:r>
              <a:rPr lang="en-US" sz="17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Standard Class was the most frequently recorded shipping mode.</a:t>
            </a:r>
          </a:p>
          <a:p>
            <a:pPr algn="l">
              <a:lnSpc>
                <a:spcPts val="2491"/>
              </a:lnSpc>
            </a:pPr>
            <a:r>
              <a:rPr lang="en-US" sz="1779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Recommendations</a:t>
            </a:r>
          </a:p>
          <a:p>
            <a:pPr marL="384301" lvl="1" indent="-192151" algn="l">
              <a:lnSpc>
                <a:spcPts val="2491"/>
              </a:lnSpc>
              <a:buAutoNum type="arabicPeriod"/>
            </a:pPr>
            <a:r>
              <a:rPr lang="en-US" sz="17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Improve product profitability: Investigate subcategories with low or negative profit, particularly Tables.</a:t>
            </a:r>
          </a:p>
          <a:p>
            <a:pPr marL="384301" lvl="1" indent="-192151" algn="l">
              <a:lnSpc>
                <a:spcPts val="2491"/>
              </a:lnSpc>
              <a:buAutoNum type="arabicPeriod"/>
            </a:pPr>
            <a:r>
              <a:rPr lang="en-US" sz="17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Review discount policies: Evaluate whether higher discounts are justified by profitable sales.</a:t>
            </a:r>
          </a:p>
          <a:p>
            <a:pPr marL="384301" lvl="1" indent="-192151" algn="l">
              <a:lnSpc>
                <a:spcPts val="2491"/>
              </a:lnSpc>
              <a:buAutoNum type="arabicPeriod"/>
            </a:pPr>
            <a:r>
              <a:rPr lang="en-US" sz="17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Monitor geographic performance: Compare sales and profit across regions and markets before allocating additional resources.</a:t>
            </a:r>
          </a:p>
          <a:p>
            <a:pPr marL="384301" lvl="1" indent="-192151" algn="l">
              <a:lnSpc>
                <a:spcPts val="2491"/>
              </a:lnSpc>
              <a:buAutoNum type="arabicPeriod"/>
            </a:pPr>
            <a:r>
              <a:rPr lang="en-US" sz="177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Evaluate shipping operations: Review shipping costs, delivery requirements and service levels together.</a:t>
            </a:r>
          </a:p>
          <a:p>
            <a:pPr algn="l">
              <a:lnSpc>
                <a:spcPts val="2491"/>
              </a:lnSpc>
            </a:pPr>
            <a:endParaRPr lang="en-US" sz="1779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2732912" y="2177558"/>
            <a:ext cx="12822175" cy="45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2"/>
              </a:lnSpc>
            </a:pPr>
            <a:r>
              <a:rPr lang="en-US" sz="2672" b="1" i="1" dirty="0">
                <a:solidFill>
                  <a:srgbClr val="6B7A8C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From Data Analysis to Business Decisions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191465" y="3273973"/>
            <a:ext cx="8097758" cy="5011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</a:pPr>
            <a:r>
              <a:rPr lang="en-US" sz="1804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and Solutions</a:t>
            </a:r>
          </a:p>
          <a:p>
            <a:pPr marL="389525" lvl="1" indent="-194763" algn="l">
              <a:lnSpc>
                <a:spcPts val="2525"/>
              </a:lnSpc>
              <a:buFont typeface="Arial"/>
              <a:buChar char="•"/>
            </a:pPr>
            <a:r>
              <a:rPr lang="en-US" sz="1804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Challenge: Summarizing a large dataset with multiple business dimensions.</a:t>
            </a:r>
          </a:p>
          <a:p>
            <a:pPr marL="389525" lvl="1" indent="-194763" algn="l">
              <a:lnSpc>
                <a:spcPts val="2525"/>
              </a:lnSpc>
              <a:buFont typeface="Arial"/>
              <a:buChar char="•"/>
            </a:pPr>
            <a:r>
              <a:rPr lang="en-US" sz="1804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Solution: Used PivotTables and PivotCharts to organize and compare the data.</a:t>
            </a:r>
          </a:p>
          <a:p>
            <a:pPr marL="389525" lvl="1" indent="-194763" algn="l">
              <a:lnSpc>
                <a:spcPts val="2525"/>
              </a:lnSpc>
              <a:buFont typeface="Arial"/>
              <a:buChar char="•"/>
            </a:pPr>
            <a:r>
              <a:rPr lang="en-US" sz="1804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Challenge: Making the dashboard interactive.</a:t>
            </a:r>
          </a:p>
          <a:p>
            <a:pPr marL="389525" lvl="1" indent="-194763" algn="l">
              <a:lnSpc>
                <a:spcPts val="2525"/>
              </a:lnSpc>
              <a:buFont typeface="Arial"/>
              <a:buChar char="•"/>
            </a:pPr>
            <a:r>
              <a:rPr lang="en-US" sz="1804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Solution: Connected the relevant PivotTables to a Year slicer.</a:t>
            </a:r>
          </a:p>
          <a:p>
            <a:pPr marL="389525" lvl="1" indent="-194763" algn="l">
              <a:lnSpc>
                <a:spcPts val="2525"/>
              </a:lnSpc>
              <a:buFont typeface="Arial"/>
              <a:buChar char="•"/>
            </a:pPr>
            <a:r>
              <a:rPr lang="en-US" sz="1804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Challenge: Interpreting sales and profitability together.</a:t>
            </a:r>
          </a:p>
          <a:p>
            <a:pPr marL="389525" lvl="1" indent="-194763" algn="l">
              <a:lnSpc>
                <a:spcPts val="2525"/>
              </a:lnSpc>
              <a:buFont typeface="Arial"/>
              <a:buChar char="•"/>
            </a:pPr>
            <a:r>
              <a:rPr lang="en-US" sz="1804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Solution: Compared both measures and calculated profit margin.</a:t>
            </a:r>
          </a:p>
          <a:p>
            <a:pPr algn="l">
              <a:lnSpc>
                <a:spcPts val="2525"/>
              </a:lnSpc>
            </a:pPr>
            <a:r>
              <a:rPr lang="en-US" sz="1804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Learning Outcomes</a:t>
            </a:r>
          </a:p>
          <a:p>
            <a:pPr marL="389525" lvl="1" indent="-194763" algn="l">
              <a:lnSpc>
                <a:spcPts val="2525"/>
              </a:lnSpc>
              <a:buFont typeface="Arial"/>
              <a:buChar char="•"/>
            </a:pPr>
            <a:r>
              <a:rPr lang="en-US" sz="1804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Developed practical Excel data-analysis skills.</a:t>
            </a:r>
          </a:p>
          <a:p>
            <a:pPr marL="389525" lvl="1" indent="-194763" algn="l">
              <a:lnSpc>
                <a:spcPts val="2525"/>
              </a:lnSpc>
              <a:buFont typeface="Arial"/>
              <a:buChar char="•"/>
            </a:pPr>
            <a:r>
              <a:rPr lang="en-US" sz="1804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Learned to create KPI summaries and PivotTables.</a:t>
            </a:r>
          </a:p>
          <a:p>
            <a:pPr marL="389525" lvl="1" indent="-194763" algn="l">
              <a:lnSpc>
                <a:spcPts val="2525"/>
              </a:lnSpc>
              <a:buFont typeface="Arial"/>
              <a:buChar char="•"/>
            </a:pPr>
            <a:r>
              <a:rPr lang="en-US" sz="1804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Improved chart selection and business-data visualization.</a:t>
            </a:r>
          </a:p>
          <a:p>
            <a:pPr marL="389525" lvl="1" indent="-194763" algn="l">
              <a:lnSpc>
                <a:spcPts val="2525"/>
              </a:lnSpc>
              <a:buFont typeface="Arial"/>
              <a:buChar char="•"/>
            </a:pPr>
            <a:r>
              <a:rPr lang="en-US" sz="1804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Learned to interpret trends and identify potential business improvement opportunities.</a:t>
            </a:r>
          </a:p>
          <a:p>
            <a:pPr algn="l">
              <a:lnSpc>
                <a:spcPts val="2525"/>
              </a:lnSpc>
            </a:pPr>
            <a:endParaRPr lang="en-US" sz="1804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8" name="AutoShape 58"/>
          <p:cNvSpPr/>
          <p:nvPr/>
        </p:nvSpPr>
        <p:spPr>
          <a:xfrm>
            <a:off x="9038714" y="2862139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id="3" name="Freeform 3"/>
            <p:cNvSpPr/>
            <p:nvPr/>
          </p:nvSpPr>
          <p:spPr>
            <a:xfrm flipV="1">
              <a:off x="10693806" y="89086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V="1">
              <a:off x="21387611" y="0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25614703" y="9670425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14920898" y="10561294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V="1">
              <a:off x="0" y="1781739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4227092" y="11452163"/>
              <a:ext cx="13700313" cy="12738888"/>
            </a:xfrm>
            <a:custGeom>
              <a:avLst/>
              <a:gdLst/>
              <a:ahLst/>
              <a:cxnLst/>
              <a:rect l="l" t="t" r="r" b="b"/>
              <a:pathLst>
                <a:path w="13700313" h="12738888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0" y="485768"/>
            <a:ext cx="17630466" cy="9566473"/>
            <a:chOff x="0" y="0"/>
            <a:chExt cx="23507288" cy="1275529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543" cy="972422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972422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543" cy="272161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72161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543" cy="329771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329771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543" cy="1115647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115647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5988247" y="1206998"/>
            <a:ext cx="5878450" cy="828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4"/>
              </a:lnSpc>
            </a:pPr>
            <a:r>
              <a:rPr lang="en-US" sz="4896" b="1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CONCLUSION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49433" y="2442055"/>
            <a:ext cx="13956079" cy="7146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7347" lvl="1" indent="-273673" algn="l">
              <a:lnSpc>
                <a:spcPts val="3549"/>
              </a:lnSpc>
              <a:buFont typeface="Arial"/>
              <a:buChar char="•"/>
            </a:pPr>
            <a:r>
              <a:rPr lang="en-US" sz="2535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This beginner-level project provided practical experience in analyzing retail business data using Microsoft Excel.</a:t>
            </a:r>
          </a:p>
          <a:p>
            <a:pPr marL="547347" lvl="1" indent="-273673" algn="l">
              <a:lnSpc>
                <a:spcPts val="3549"/>
              </a:lnSpc>
              <a:buFont typeface="Arial"/>
              <a:buChar char="•"/>
            </a:pPr>
            <a:r>
              <a:rPr lang="en-US" sz="2535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By creating KPI calculations, PivotTables, PivotCharts and an interactive dashboard, I learned how to summarize large datasets, compare business performance, and identify patterns in sales, profitability, discounts and operations.</a:t>
            </a:r>
          </a:p>
          <a:p>
            <a:pPr marL="547347" lvl="1" indent="-273673" algn="l">
              <a:lnSpc>
                <a:spcPts val="3549"/>
              </a:lnSpc>
              <a:buFont typeface="Arial"/>
              <a:buChar char="•"/>
            </a:pPr>
            <a:r>
              <a:rPr lang="en-US" sz="2535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The analysis highlighted the importance of evaluating profit alongside sales, reviewing discount-related losses, and understanding differences across products, markets, regions and customer segments.</a:t>
            </a:r>
          </a:p>
          <a:p>
            <a:pPr marL="547347" lvl="1" indent="-273673" algn="l">
              <a:lnSpc>
                <a:spcPts val="3549"/>
              </a:lnSpc>
              <a:buFont typeface="Arial"/>
              <a:buChar char="•"/>
            </a:pPr>
            <a:r>
              <a:rPr lang="en-US" sz="2535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The project strengthened my ability to convert raw data into meaningful visualizations and practical business recommendations.</a:t>
            </a:r>
          </a:p>
          <a:p>
            <a:pPr algn="just">
              <a:lnSpc>
                <a:spcPts val="3549"/>
              </a:lnSpc>
            </a:pPr>
            <a:endParaRPr lang="en-US" sz="2535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549"/>
              </a:lnSpc>
            </a:pPr>
            <a:r>
              <a:rPr lang="en-US" sz="2535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  <a:p>
            <a:pPr algn="just">
              <a:lnSpc>
                <a:spcPts val="3549"/>
              </a:lnSpc>
            </a:pPr>
            <a:endParaRPr lang="en-US" sz="2535" b="1">
              <a:solidFill>
                <a:srgbClr val="17415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3549"/>
              </a:lnSpc>
            </a:pPr>
            <a:r>
              <a:rPr lang="en-US" sz="2535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Nitu Singh</a:t>
            </a:r>
          </a:p>
          <a:p>
            <a:pPr algn="just">
              <a:lnSpc>
                <a:spcPts val="3549"/>
              </a:lnSpc>
            </a:pPr>
            <a:r>
              <a:rPr lang="en-US" sz="2535" b="1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ShadowFox</a:t>
            </a:r>
            <a:r>
              <a:rPr lang="en-US" sz="2535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 Beginner Data Analytics Internship Project</a:t>
            </a:r>
          </a:p>
          <a:p>
            <a:pPr algn="just">
              <a:lnSpc>
                <a:spcPts val="3549"/>
              </a:lnSpc>
            </a:pPr>
            <a:endParaRPr lang="en-US" sz="2535">
              <a:solidFill>
                <a:srgbClr val="1741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id="37" name="Group 37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id="47" name="Group 47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140985" cy="249240"/>
              </a:xfrm>
              <a:custGeom>
                <a:avLst/>
                <a:gdLst/>
                <a:ahLst/>
                <a:cxnLst/>
                <a:rect l="l" t="t" r="r" b="b"/>
                <a:pathLst>
                  <a:path w="1140985" h="249240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1696</Words>
  <Application>Microsoft Office PowerPoint</Application>
  <PresentationFormat>Custom</PresentationFormat>
  <Paragraphs>169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Canva Sans Bold Italics</vt:lpstr>
      <vt:lpstr>Canva Sans</vt:lpstr>
      <vt:lpstr>Canva Sans Medium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Grey Modern Minimalist Presentation</dc:title>
  <cp:lastModifiedBy>nitu singh</cp:lastModifiedBy>
  <cp:revision>2</cp:revision>
  <dcterms:created xsi:type="dcterms:W3CDTF">2006-08-16T00:00:00Z</dcterms:created>
  <dcterms:modified xsi:type="dcterms:W3CDTF">2026-10-29T11:14:50Z</dcterms:modified>
  <dc:identifier>DAHYz4fHvL8</dc:identifier>
</cp:coreProperties>
</file>